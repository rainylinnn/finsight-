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slides/slide12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slides/charts/chart1.xml" ContentType="application/vnd.openxmlformats-officedocument.drawingml.chart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3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2" Type="http://schemas.openxmlformats.org/officeDocument/2006/relationships/slide" Target="slides/slide12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13" Type="http://schemas.openxmlformats.org/officeDocument/2006/relationships/notesMaster" Target="notesMasters/notesMaster1.xml" /><Relationship Id="rId14" Type="http://schemas.openxmlformats.org/officeDocument/2006/relationships/presProps" Target="presProps.xml" /><Relationship Id="rId16" Type="http://schemas.openxmlformats.org/officeDocument/2006/relationships/viewProps" Target="viewProps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3.sv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4.sv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sv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chart" Target="charts/chart1.xml" /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2.svg" /><Relationship Id="rId0" Type="http://schemas.openxmlformats.org/officeDocument/2006/relationships/slideLayout" Target="../slideLayouts/slideLayout1.xml" /></Relationships>
</file>

<file path=ppt/slides/charts/chart1.xml><?xml version="1.0" encoding="utf-8"?>
<c:chartSpace xmlns:a="http://schemas.openxmlformats.org/drawingml/2006/main" xmlns:c="http://schemas.openxmlformats.org/drawingml/2006/chart">
  <c:chart>
    <c:plotArea>
      <c:barChart>
        <c:barDir val="bar"/>
        <c:grouping val="clustere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得分</c:v>
                </c:pt>
              </c:strCache>
            </c:strRef>
          </c:tx>
          <c:spPr>
            <a:solidFill>
              <a:srgbClr val="2F5D9E"/>
            </a:solidFill>
          </c:spPr>
          <c:dLbls>
            <c:txPr>
              <a:bodyPr/>
              <a:p>
                <a:pPr>
                  <a:defRPr sz="750">
                    <a:solidFill>
                      <a:srgbClr val="0E1B2E"/>
                    </a:solidFill>
                  </a:defRPr>
                </a:pPr>
              </a:p>
            </c:txPr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strCache>
                <c:ptCount val="5"/>
                <c:pt idx="0">
                  <c:v>SQL 数值命中</c:v>
                </c:pt>
                <c:pt idx="1">
                  <c:v>检索 hit@5</c:v>
                </c:pt>
                <c:pt idx="2">
                  <c:v>答案关键词命中</c:v>
                </c:pt>
                <c:pt idx="3">
                  <c:v>引用标注覆盖</c:v>
                </c:pt>
                <c:pt idx="4">
                  <c:v>RAGAS Faithfulness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100</c:v>
                </c:pt>
                <c:pt idx="1">
                  <c:v>95</c:v>
                </c:pt>
                <c:pt idx="2">
                  <c:v>95</c:v>
                </c:pt>
                <c:pt idx="3">
                  <c:v>85</c:v>
                </c:pt>
                <c:pt idx="4">
                  <c:v>87.8</c:v>
                </c:pt>
              </c:numCache>
            </c:numRef>
          </c:val>
        </c:ser>
        <c:gapWidth val="219"/>
        <c:overlap val="-27"/>
        <c:axId val="89736801"/>
        <c:axId val="89736802"/>
      </c:barChart>
      <c:catAx>
        <c:axId val="897368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9D9D9"/>
            </a:solidFill>
            <a:round/>
          </a:ln>
          <a:effectLst/>
        </c:spPr>
        <c:txPr>
          <a:bodyPr/>
          <a:p>
            <a:pPr>
              <a:defRPr sz="900">
                <a:solidFill>
                  <a:srgbClr val="7B8494"/>
                </a:solidFill>
              </a:defRPr>
            </a:pPr>
          </a:p>
        </c:txPr>
        <c:crossAx val="89736802"/>
      </c:catAx>
      <c:valAx>
        <c:axId val="89736802"/>
        <c:scaling>
          <c:orientation val="minMax"/>
        </c:scaling>
        <c:delete val="0"/>
        <c:axPos val="l"/>
        <c:majorGridlines>
          <c:spPr>
            <a:noFill/>
            <a:ln w="9525" cap="flat">
              <a:solidFill>
                <a:srgbClr val="D9D9D9"/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p>
            <a:pPr>
              <a:defRPr sz="900">
                <a:solidFill>
                  <a:srgbClr val="7B8494"/>
                </a:solidFill>
              </a:defRPr>
            </a:pPr>
          </a:p>
        </c:txPr>
        <c:crossAx val="89736801"/>
        <c:crossBetween val="between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dispBlanksAs val="gap"/>
  </c:chart>
</c:chartSpace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" name="" descr="&lt;Slide style={{&#10;    width: 1280,&#10;    height: 720,&#10;    background: 'linear-gradient(135deg, #0E1B2E 0%, #16294a 60%, #24487d 100%)',&#10;    position: 'relative',&#10;    overflow: 'hidden',&#10;    flexDirection: 'column',&#10;}}&gt;&#10;    &lt;svg width={1280} height={720} viewBox='0 0 1280 720' style={{ position: 'absolute', top: 0, left: 0, opacity: 0.46 }}&gt;&#10;        &lt;g stroke='#C8A24A' strokeWidth='1' fill='none' opacity='0.55'&gt;&#10;            &lt;path d='M 700 96 L 964 34 L 1196 208' /&gt;&#10;            &lt;path d='M 964 34 L 1180 20' /&gt;&#10;            &lt;path d='M 700 96 L 838 306' /&gt;&#10;            &lt;path d='M 838 306 L 1150 240 L 1196 208' /&gt;&#10;            &lt;path d='M 838 306 L 706 470' /&gt;&#10;            &lt;path d='M 838 306 L 1064 486' /&gt;&#10;            &lt;path d='M 1064 486 L 1210 414' /&gt;&#10;            &lt;path d='M 706 470 L 962 606' /&gt;&#10;            &lt;path d='M 962 606 L 1210 414' /&gt;&#10;            &lt;path d='M 1064 486 L 962 606' /&gt;&#10;        &lt;/g&gt;&#10;        &lt;g fill='#C8A24A'&gt;&#10;            &lt;circle cx='700' cy='96' r='3' opacity='0.8' /&gt;&#10;            &lt;circle cx='964' cy='34' r='4' opacity='0.9' /&gt;&#10;            &lt;circle cx='1180' cy='20' r='2.4' opacity='0.55' /&gt;&#10;            &lt;circle cx='1196' cy='208' r='3.4' opacity='0.75' /&gt;&#10;            &lt;circle cx='838' cy='306' r='5' opacity='1' /&gt;&#10;            &lt;circle cx='1150' cy='240' r='2.6' opacity='0.6' /&gt;&#10;            &lt;circle cx='706' cy='470' r='3' opacity='0.7' /&gt;&#10;            &lt;circle cx='1064' cy='486' r='4' opacity='0.85' /&gt;&#10;            &lt;circle cx='1210' cy='414' r='2.6' opacity='0.55' /&gt;&#10;            &lt;circle cx='962' cy='606' r='3.2' opacity='0.7' /&gt;&#10;        &lt;/g&gt;&#10;        &lt;g stroke='#C8A24A' strokeWidth='1' fill='none' opacity='0.28'&gt;&#10;            &lt;circle cx='838' cy='306' r='96' /&gt;&#10;            &lt;circle cx='838' cy='306' r='152' /&gt;&#10;            &lt;circle cx='838' cy='306' r='208' /&gt;&#10;        &lt;/g&gt;&#10;    &lt;/svg&gt;&#10;&#10;    &lt;Box style={{&#10;        position: 'relative',&#10;        zIndex: 2,&#10;        width: 720,&#10;        paddingLeft: 96,&#10;        flexDirection: 'column',&#10;        justifyContent: 'center',&#10;        height: '100%',&#10;    }}&gt;&#10;        &lt;Text style={{ fontSize: 13, letterSpacing: 7, color: '#C8A24A', fontWeight: 'bold' }}&gt;&#10;            FIN · SIGHT　2026&#10;        &lt;/Text&gt;&#10;        &lt;Text style={{ fontSize: 64, fontWeight: 'bold', color: '#F5F1E8', lineHeight: 1.15, marginTop: 24 }}&gt;&#10;            FinSight 酒研助手&#10;        &lt;/Text&gt;&#10;        &lt;Box style={{ width: 86, height: 3, background: '#C8A24A', marginTop: 28 }} /&gt;&#10;        &lt;Text style={{ fontSize: 24, color: 'rgba(245,241,232,0.86)', marginTop: 28, lineHeight: 1.5 }}&gt;&#10;            白酒行业智能投研工作台&#10;        &lt;/Text&gt;&#10;        &lt;Text style={{ fontSize: 16, color: 'rgba(245,241,232,0.52)', marginTop: 14, letterSpacing: 0.6 }}&gt;&#10;            年报原文 RAG　·　财务指标 NL2SQL　·　股东关系图谱&#10;        &lt;/Text&gt;&#10;&#10;        &lt;Box style={{ flexDirection: 'row', gap: 46, marginTop: 58 }}&gt;&#10;            &lt;Box style={{ flexDirection: 'column' }}&gt;&#10;                &lt;Text style={{ fontSize: 36, fontWeight: 'bold', color: '#C8A24A', fontFamily: 'Consolas' }}&gt;20&lt;/Text&gt;&#10;                &lt;Text style={{ fontSize: 12, color: 'rgba(245,241,232,0.46)', letterSpacing: 1.4, marginTop: 4 }}&gt;家公司&lt;/Text&gt;&#10;            &lt;/Box&gt;&#10;            &lt;Box style={{ flexDirection: 'column' }}&gt;&#10;                &lt;Text style={{ fontSize: 36, fontWeight: 'bold', color: '#C8A24A', fontFamily: 'Consolas' }}&gt;60&lt;/Text&gt;&#10;                &lt;Text style={{ fontSize: 12, color: 'rgba(245,241,232,0.46)', letterSpacing: 1.4, marginTop: 4 }}&gt;份年报&lt;/Text&gt;&#10;            &lt;/Box&gt;&#10;            &lt;Box style={{ flexDirection: 'column' }}&gt;&#10;                &lt;Text style={{ fontSize: 36, fontWeight: 'bold', color: '#C8A24A', fontFamily: 'Consolas' }}&gt;24,235&lt;/Text&gt;&#10;                &lt;Text style={{ fontSize: 12, color: 'rgba(245,241,232,0.46)', letterSpacing: 1.4, marginTop: 4 }}&gt;条向量&lt;/Text&gt;&#10;            &lt;/Box&gt;&#10;        &lt;/Box&gt;&#10;    &lt;/Box&gt;&#10;&#10;    &lt;Box style={{ position: 'absolute', left: 96, bottom: 44, flexDirection: 'row', alignItems: 'center', gap: 14 }}&gt;&#10;        &lt;Box style={{ width: 26, height: 1, background: 'rgba(200,162,74,0.6)' }} /&gt;&#10;        &lt;Text style={{ fontSize: 12, color: 'rgba(245,241,232,0.4)', letterSpacing: 2 }}&gt;&#10;            项目汇报　·　2026.10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E1B2E"/>
              </a:gs>
              <a:gs pos="60000">
                <a:srgbClr val="16294A"/>
              </a:gs>
              <a:gs pos="100000">
                <a:srgbClr val="24487D"/>
              </a:gs>
            </a:gsLst>
            <a:lin ang="2700000" scaled="1"/>
          </a:gra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>
            <a:alphaModFix amt="46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914400" y="6362700"/>
            <a:ext cx="247650" cy="9525"/>
          </a:xfrm>
          <a:prstGeom prst="rect">
            <a:avLst/>
          </a:prstGeom>
          <a:solidFill>
            <a:srgbClr val="C8A24A">
              <a:alpha val="60000"/>
            </a:srgbClr>
          </a:solidFill>
          <a:ln/>
        </p:spPr>
        <p:txBody>
          <a:bodyPr/>
          <a:p/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1295400" y="6296025"/>
            <a:ext cx="1409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50">
                <a:solidFill>
                  <a:srgbClr val="F5F1E8">
                    <a:alpha val="40000"/>
                  </a:srgbClr>
                </a:solidFill>
                <a:latin typeface="Microsoft YaHei"/>
                <a:ea typeface="Microsoft YaHei"/>
              </a:rPr>
              <a:t>项目汇报　·　</a:t>
            </a:r>
            <a:r>
              <a:rPr lang="en-US" sz="900" spc="150">
                <a:solidFill>
                  <a:srgbClr val="F5F1E8">
                    <a:alpha val="40000"/>
                  </a:srgbClr>
                </a:solidFill>
                <a:latin typeface="Microsoft YaHei"/>
                <a:ea typeface="Microsoft YaHei"/>
              </a:rPr>
              <a:t>2026.10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914400" y="1495425"/>
            <a:ext cx="5943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525">
                <a:solidFill>
                  <a:srgbClr val="C8A24A"/>
                </a:solidFill>
                <a:latin typeface="Microsoft YaHei"/>
                <a:ea typeface="Microsoft YaHei"/>
              </a:rPr>
              <a:t>FIN · SIGHT</a:t>
            </a:r>
            <a:r>
              <a:rPr lang="zh-CN" sz="975" b="1" spc="525">
                <a:solidFill>
                  <a:srgbClr val="C8A24A"/>
                </a:solidFill>
                <a:latin typeface="Microsoft YaHei"/>
                <a:ea typeface="Microsoft YaHei"/>
              </a:rPr>
              <a:t>　</a:t>
            </a:r>
            <a:r>
              <a:rPr lang="en-US" sz="975" b="1" spc="525">
                <a:solidFill>
                  <a:srgbClr val="C8A24A"/>
                </a:solidFill>
                <a:latin typeface="Microsoft YaHei"/>
                <a:ea typeface="Microsoft YaHei"/>
              </a:rPr>
              <a:t>2026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914400" y="1876425"/>
            <a:ext cx="5943600" cy="84772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4800" b="1">
                <a:solidFill>
                  <a:srgbClr val="F5F1E8"/>
                </a:solidFill>
                <a:latin typeface="Microsoft YaHei"/>
                <a:ea typeface="Microsoft YaHei"/>
              </a:rPr>
              <a:t>FinSight </a:t>
            </a:r>
            <a:r>
              <a:rPr lang="zh-CN" sz="4800" b="1">
                <a:solidFill>
                  <a:srgbClr val="F5F1E8"/>
                </a:solidFill>
                <a:latin typeface="Microsoft YaHei"/>
                <a:ea typeface="Microsoft YaHei"/>
              </a:rPr>
              <a:t>酒研助手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914400" y="2990850"/>
            <a:ext cx="819150" cy="28575"/>
          </a:xfrm>
          <a:prstGeom prst="rect">
            <a:avLst/>
          </a:prstGeom>
          <a:solidFill>
            <a:srgbClr val="C8A24A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914400" y="3286125"/>
            <a:ext cx="5943600" cy="4191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800">
                <a:solidFill>
                  <a:srgbClr val="F5F1E8">
                    <a:alpha val="86000"/>
                  </a:srgbClr>
                </a:solidFill>
                <a:latin typeface="Microsoft YaHei"/>
                <a:ea typeface="Microsoft YaHei"/>
              </a:rPr>
              <a:t>白酒行业智能投研工作台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914400" y="3838575"/>
            <a:ext cx="594360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200" spc="45">
                <a:solidFill>
                  <a:srgbClr val="F5F1E8">
                    <a:alpha val="52000"/>
                  </a:srgbClr>
                </a:solidFill>
                <a:latin typeface="Microsoft YaHei"/>
                <a:ea typeface="Microsoft YaHei"/>
              </a:rPr>
              <a:t>年报原文</a:t>
            </a:r>
            <a:r>
              <a:rPr lang="en-US" sz="1200" spc="45">
                <a:solidFill>
                  <a:srgbClr val="F5F1E8">
                    <a:alpha val="52000"/>
                  </a:srgbClr>
                </a:solidFill>
                <a:latin typeface="Microsoft YaHei"/>
                <a:ea typeface="Microsoft YaHei"/>
              </a:rPr>
              <a:t> RAG</a:t>
            </a:r>
            <a:r>
              <a:rPr lang="zh-CN" sz="1200" spc="45">
                <a:solidFill>
                  <a:srgbClr val="F5F1E8">
                    <a:alpha val="52000"/>
                  </a:srgbClr>
                </a:solidFill>
                <a:latin typeface="Microsoft YaHei"/>
                <a:ea typeface="Microsoft YaHei"/>
              </a:rPr>
              <a:t>　·　财务指标</a:t>
            </a:r>
            <a:r>
              <a:rPr lang="en-US" sz="1200" spc="45">
                <a:solidFill>
                  <a:srgbClr val="F5F1E8">
                    <a:alpha val="52000"/>
                  </a:srgbClr>
                </a:solidFill>
                <a:latin typeface="Microsoft YaHei"/>
                <a:ea typeface="Microsoft YaHei"/>
              </a:rPr>
              <a:t> NL2SQL</a:t>
            </a:r>
            <a:r>
              <a:rPr lang="zh-CN" sz="1200" spc="45">
                <a:solidFill>
                  <a:srgbClr val="F5F1E8">
                    <a:alpha val="52000"/>
                  </a:srgbClr>
                </a:solidFill>
                <a:latin typeface="Microsoft YaHei"/>
                <a:ea typeface="Microsoft YaHei"/>
              </a:rPr>
              <a:t>　·　股东关系图谱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914400" y="4762500"/>
            <a:ext cx="390525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C8A24A"/>
                </a:solidFill>
                <a:latin typeface="Consolas"/>
                <a:ea typeface="Consolas"/>
              </a:rPr>
              <a:t>20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914400" y="5219700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05">
                <a:solidFill>
                  <a:srgbClr val="F5F1E8">
                    <a:alpha val="46000"/>
                  </a:srgbClr>
                </a:solidFill>
                <a:latin typeface="Microsoft YaHei"/>
                <a:ea typeface="Microsoft YaHei"/>
              </a:rPr>
              <a:t>家公司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1743075" y="4762500"/>
            <a:ext cx="390525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C8A24A"/>
                </a:solidFill>
                <a:latin typeface="Consolas"/>
                <a:ea typeface="Consolas"/>
              </a:rPr>
              <a:t>60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1743075" y="5219700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05">
                <a:solidFill>
                  <a:srgbClr val="F5F1E8">
                    <a:alpha val="46000"/>
                  </a:srgbClr>
                </a:solidFill>
                <a:latin typeface="Microsoft YaHei"/>
                <a:ea typeface="Microsoft YaHei"/>
              </a:rPr>
              <a:t>份年报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2571750" y="4762500"/>
            <a:ext cx="1133475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C8A24A"/>
                </a:solidFill>
                <a:latin typeface="Consolas"/>
                <a:ea typeface="Consolas"/>
              </a:rPr>
              <a:t>24,235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2571750" y="5219700"/>
            <a:ext cx="11334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05">
                <a:solidFill>
                  <a:srgbClr val="F5F1E8">
                    <a:alpha val="46000"/>
                  </a:srgbClr>
                </a:solidFill>
                <a:latin typeface="Microsoft YaHei"/>
                <a:ea typeface="Microsoft YaHei"/>
              </a:rPr>
              <a:t>条向量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99" name="" descr="&lt;Slide style={{&#10;    width: 1280,&#10;    height: 720,&#10;    background: '#F5F1E8',&#10;    padding: '0 72px',&#10;    flexDirection: 'row',&#10;}}&gt;&#10;    &lt;Box style={{&#10;        width: 306,&#10;        flexDirection: 'column',&#10;        justifyContent: 'center',&#10;        borderRight: '1px solid rgba(14,27,46,0.14)',&#10;    }}&gt;&#10;        &lt;Text style={{ fontSize: 12, letterSpacing: 6, color: '#2F5D9E', fontWeight: 'bold' }}&gt;&#10;            CONTENTS&#10;        &lt;/Text&gt;&#10;        &lt;Text style={{ fontSize: 68, fontWeight: 'bold', color: '#0E1B2E', marginTop: 18, lineHeight: 1.1 }}&gt;&#10;            目录&#10;        &lt;/Text&gt;&#10;        &lt;Box style={{ width: 54, height: 2, background: '#C8A24A', marginTop: 24 }} /&gt;&#10;        &lt;Text style={{ fontSize: 13, color: 'rgba(14,27,46,0.45)', marginTop: 20, lineHeight: 1.7 }}&gt;&#10;            两章　·　12 页&#10;        &lt;/Text&gt;&#10;    &lt;/Box&gt;&#10;&#10;    &lt;Box style={{ flex: 1, flexDirection: 'column', justifyContent: 'center', paddingLeft: 62, gap: 44 }}&gt;&#10;        &lt;Box style={{ flexDirection: 'row', gap: 28, alignItems: 'flex-start' }}&gt;&#10;            &lt;Text style={{ fontSize: 46, fontWeight: 'bold', color: '#C8A24A', fontFamily: 'Consolas', lineHeight: 1, width: 74 }}&gt;&#10;                01&#10;            &lt;/Text&gt;&#10;            &lt;Box style={{ flex: 1, flexDirection: 'column' }}&gt;&#10;                &lt;Text style={{ fontSize: 26, fontWeight: 'bold', color: '#0E1B2E' }}&gt;&#10;                    一个入口，三条链路&#10;                &lt;/Text&gt;&#10;                &lt;Text style={{ fontSize: 16, color: 'rgba(14,27,46,0.62)', marginTop: 10, lineHeight: 1.65 }}&gt;&#10;                    把散落在 60 份年报里的原文、指标、股东关系，收进同一个对话框。&#10;                &lt;/Text&gt;&#10;                &lt;Text style={{ fontSize: 14, color: 'rgba(14,27,46,0.42)', marginTop: 8 }}&gt;&#10;                    系统自己判断该查哪里 —— P03–P06&#10;                &lt;/Text&gt;&#10;            &lt;/Box&gt;&#10;        &lt;/Box&gt;&#10;&#10;        &lt;Box style={{ height: 1, background: 'rgba(14,27,46,0.10)' }} /&gt;&#10;&#10;        &lt;Box style={{ flexDirection: 'row', gap: 28, alignItems: 'flex-start' }}&gt;&#10;            &lt;Text style={{ fontSize: 46, fontWeight: 'bold', color: '#C8A24A', fontFamily: 'Consolas', lineHeight: 1, width: 74 }}&gt;&#10;                02&#10;            &lt;/Text&gt;&#10;            &lt;Box style={{ flex: 1, flexDirection: 'column' }}&gt;&#10;                &lt;Text style={{ fontSize: 26, fontWeight: 'bold', color: '#0E1B2E' }}&gt;&#10;                    让它准起来，也让它说实话&#10;                &lt;/Text&gt;&#10;                &lt;Text style={{ fontSize: 16, color: 'rgba(14,27,46,0.62)', marginTop: 10, lineHeight: 1.65 }}&gt;&#10;                    检索怎么补、SQL 怎么管、效果怎么量，以及四次把系统拉回正轨的返工。&#10;                &lt;/Text&gt;&#10;                &lt;Text style={{ fontSize: 14, color: 'rgba(14,27,46,0.42)', marginTop: 8 }}&gt;&#10;                    评测与取舍 —— P07–P11&#10;                &lt;/Text&gt;&#10;            &lt;/Box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/>
        </p:spPr>
        <p:txBody>
          <a:bodyPr/>
          <a:p/>
        </p:txBody>
      </p:sp>
      <p:sp>
        <p:nvSpPr>
          <p:cNvPr id="101" name=""/>
          <p:cNvSpPr/>
          <p:nvPr/>
        </p:nvSpPr>
        <p:spPr>
          <a:xfrm rot="0" flipH="0" flipV="0">
            <a:off x="685800" y="0"/>
            <a:ext cx="2914650" cy="6858000"/>
          </a:xfrm>
          <a:custGeom>
            <a:pathLst>
              <a:path w="306" h="720">
                <a:moveTo>
                  <a:pt x="305" y="0"/>
                </a:moveTo>
                <a:lnTo>
                  <a:pt x="306" y="0"/>
                </a:lnTo>
                <a:lnTo>
                  <a:pt x="306" y="720"/>
                </a:lnTo>
                <a:lnTo>
                  <a:pt x="305" y="720"/>
                </a:lnTo>
                <a:close/>
              </a:path>
            </a:pathLst>
          </a:custGeom>
          <a:solidFill>
            <a:srgbClr val="0E1B2E">
              <a:alpha val="14000"/>
            </a:srgbClr>
          </a:solidFill>
          <a:ln/>
        </p:spPr>
        <p:txBody>
          <a:bodyPr/>
          <a:p/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685800" y="2495550"/>
            <a:ext cx="29051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450">
                <a:solidFill>
                  <a:srgbClr val="2F5D9E"/>
                </a:solidFill>
                <a:latin typeface="Microsoft YaHei"/>
                <a:ea typeface="Microsoft YaHei"/>
              </a:rPr>
              <a:t>CONTENTS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685800" y="2809875"/>
            <a:ext cx="2905125" cy="85725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5100" b="1">
                <a:solidFill>
                  <a:srgbClr val="0E1B2E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104" name=""/>
          <p:cNvSpPr/>
          <p:nvPr/>
        </p:nvSpPr>
        <p:spPr>
          <a:xfrm rot="0" flipH="0" flipV="0">
            <a:off x="685800" y="3895725"/>
            <a:ext cx="514350" cy="19050"/>
          </a:xfrm>
          <a:prstGeom prst="rect">
            <a:avLst/>
          </a:prstGeom>
          <a:solidFill>
            <a:srgbClr val="C8A24A"/>
          </a:solidFill>
          <a:ln/>
        </p:spPr>
        <p:txBody>
          <a:bodyPr/>
          <a:p/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685800" y="4105275"/>
            <a:ext cx="2905125" cy="2571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75">
                <a:solidFill>
                  <a:srgbClr val="0E1B2E">
                    <a:alpha val="45000"/>
                  </a:srgbClr>
                </a:solidFill>
                <a:latin typeface="Microsoft YaHei"/>
                <a:ea typeface="Microsoft YaHei"/>
              </a:rPr>
              <a:t>两章　·　</a:t>
            </a:r>
            <a:r>
              <a:rPr lang="en-US" sz="975">
                <a:solidFill>
                  <a:srgbClr val="0E1B2E">
                    <a:alpha val="45000"/>
                  </a:srgbClr>
                </a:solidFill>
                <a:latin typeface="Microsoft YaHei"/>
                <a:ea typeface="Microsoft YaHei"/>
              </a:rPr>
              <a:t>12 </a:t>
            </a:r>
            <a:r>
              <a:rPr lang="zh-CN" sz="975">
                <a:solidFill>
                  <a:srgbClr val="0E1B2E">
                    <a:alpha val="45000"/>
                  </a:srgbClr>
                </a:solidFill>
                <a:latin typeface="Microsoft YaHei"/>
                <a:ea typeface="Microsoft YaHei"/>
              </a:rPr>
              <a:t>页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4191000" y="2066925"/>
            <a:ext cx="70485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C8A24A"/>
                </a:solidFill>
                <a:latin typeface="Consolas"/>
                <a:ea typeface="Consolas"/>
              </a:rPr>
              <a:t>01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5162550" y="2066925"/>
            <a:ext cx="63436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E1B2E"/>
                </a:solidFill>
                <a:latin typeface="Microsoft YaHei"/>
                <a:ea typeface="Microsoft YaHei"/>
              </a:rPr>
              <a:t>一个入口，三条链路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5162550" y="2466975"/>
            <a:ext cx="6343650" cy="3048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00">
                <a:solidFill>
                  <a:srgbClr val="0E1B2E">
                    <a:alpha val="62000"/>
                  </a:srgbClr>
                </a:solidFill>
                <a:latin typeface="Microsoft YaHei"/>
                <a:ea typeface="Microsoft YaHei"/>
              </a:rPr>
              <a:t>把散落在</a:t>
            </a:r>
            <a:r>
              <a:rPr lang="en-US" sz="1200">
                <a:solidFill>
                  <a:srgbClr val="0E1B2E">
                    <a:alpha val="62000"/>
                  </a:srgbClr>
                </a:solidFill>
                <a:latin typeface="Microsoft YaHei"/>
                <a:ea typeface="Microsoft YaHei"/>
              </a:rPr>
              <a:t> 60 </a:t>
            </a:r>
            <a:r>
              <a:rPr lang="zh-CN" sz="1200">
                <a:solidFill>
                  <a:srgbClr val="0E1B2E">
                    <a:alpha val="62000"/>
                  </a:srgbClr>
                </a:solidFill>
                <a:latin typeface="Microsoft YaHei"/>
                <a:ea typeface="Microsoft YaHei"/>
              </a:rPr>
              <a:t>份年报里的原文、指标、股东关系，收进同一个对话框。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5162550" y="2847975"/>
            <a:ext cx="6343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0E1B2E">
                    <a:alpha val="42000"/>
                  </a:srgbClr>
                </a:solidFill>
                <a:latin typeface="Microsoft YaHei"/>
                <a:ea typeface="Microsoft YaHei"/>
              </a:rPr>
              <a:t>系统自己判断该查哪里</a:t>
            </a:r>
            <a:r>
              <a:rPr lang="en-US" sz="1050">
                <a:solidFill>
                  <a:srgbClr val="0E1B2E">
                    <a:alpha val="42000"/>
                  </a:srgbClr>
                </a:solidFill>
                <a:latin typeface="Microsoft YaHei"/>
                <a:ea typeface="Microsoft YaHei"/>
              </a:rPr>
              <a:t> —— P03–P06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4191000" y="3429000"/>
            <a:ext cx="7315200" cy="9525"/>
          </a:xfrm>
          <a:prstGeom prst="rect">
            <a:avLst/>
          </a:prstGeom>
          <a:solidFill>
            <a:srgbClr val="0E1B2E">
              <a:alpha val="10000"/>
            </a:srgbClr>
          </a:solidFill>
          <a:ln/>
        </p:spPr>
        <p:txBody>
          <a:bodyPr/>
          <a:p/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4191000" y="3857625"/>
            <a:ext cx="70485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C8A24A"/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5162550" y="3857625"/>
            <a:ext cx="63436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E1B2E"/>
                </a:solidFill>
                <a:latin typeface="Microsoft YaHei"/>
                <a:ea typeface="Microsoft YaHei"/>
              </a:rPr>
              <a:t>让它准起来，也让它说实话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5162550" y="4257675"/>
            <a:ext cx="6343650" cy="3048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00">
                <a:solidFill>
                  <a:srgbClr val="0E1B2E">
                    <a:alpha val="62000"/>
                  </a:srgbClr>
                </a:solidFill>
                <a:latin typeface="Microsoft YaHei"/>
                <a:ea typeface="Microsoft YaHei"/>
              </a:rPr>
              <a:t>检索怎么补、</a:t>
            </a:r>
            <a:r>
              <a:rPr lang="en-US" sz="1200">
                <a:solidFill>
                  <a:srgbClr val="0E1B2E">
                    <a:alpha val="62000"/>
                  </a:srgbClr>
                </a:solidFill>
                <a:latin typeface="Microsoft YaHei"/>
                <a:ea typeface="Microsoft YaHei"/>
              </a:rPr>
              <a:t>SQL </a:t>
            </a:r>
            <a:r>
              <a:rPr lang="zh-CN" sz="1200">
                <a:solidFill>
                  <a:srgbClr val="0E1B2E">
                    <a:alpha val="62000"/>
                  </a:srgbClr>
                </a:solidFill>
                <a:latin typeface="Microsoft YaHei"/>
                <a:ea typeface="Microsoft YaHei"/>
              </a:rPr>
              <a:t>怎么管、效果怎么量，以及四次把系统拉回正轨的返工。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5162550" y="4638675"/>
            <a:ext cx="6343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0E1B2E">
                    <a:alpha val="42000"/>
                  </a:srgbClr>
                </a:solidFill>
                <a:latin typeface="Microsoft YaHei"/>
                <a:ea typeface="Microsoft YaHei"/>
              </a:rPr>
              <a:t>评测与取舍</a:t>
            </a:r>
            <a:r>
              <a:rPr lang="en-US" sz="1050">
                <a:solidFill>
                  <a:srgbClr val="0E1B2E">
                    <a:alpha val="42000"/>
                  </a:srgbClr>
                </a:solidFill>
                <a:latin typeface="Microsoft YaHei"/>
                <a:ea typeface="Microsoft YaHei"/>
              </a:rPr>
              <a:t> —— P07–P11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15" name="" descr="&lt;Slide style={{&#10;    width: 1280,&#10;    height: 720,&#10;    background: 'linear-gradient(118deg, #0E1B2E 0%, #16294a 55%, #24487d 100%)',&#10;    position: 'relative',&#10;    overflow: 'hidden',&#10;    flexDirection: 'column',&#10;    justifyContent: 'center',&#10;    paddingLeft: 112,&#10;}}&gt;&#10;    &lt;svg width={1280} height={720} viewBox='0 0 1280 720' style={{ position: 'absolute', top: 0, left: 0, opacity: 0.4 }}&gt;&#10;        &lt;g stroke='#C8A24A' strokeWidth='1' fill='none' opacity='0.5'&gt;&#10;            &lt;circle cx='1010' cy='360' r='120' /&gt;&#10;            &lt;circle cx='1010' cy='360' r='196' /&gt;&#10;            &lt;circle cx='1010' cy='360' r='272' /&gt;&#10;            &lt;circle cx='1010' cy='360' r='348' /&gt;&#10;            &lt;path d='M 0 604 L 1280 470' /&gt;&#10;            &lt;path d='M 0 660 L 1280 526' /&gt;&#10;        &lt;/g&gt;&#10;        &lt;g fill='#C8A24A'&gt;&#10;            &lt;circle cx='1010' cy='240' r='4' opacity='0.85' /&gt;&#10;            &lt;circle cx='1010' cy='360' r='6' opacity='1' /&gt;&#10;            &lt;circle cx='870' cy='360' r='3' opacity='0.6' /&gt;&#10;            &lt;circle cx='1150' cy='360' r='3' opacity='0.6' /&gt;&#10;        &lt;/g&gt;&#10;    &lt;/svg&gt;&#10;&#10;    &lt;Box style={{ position: 'relative', zIndex: 2, flexDirection: 'column', width: 860 }}&gt;&#10;        &lt;Text style={{ fontSize: 100, fontWeight: 'bold', color: '#C8A24A', fontFamily: 'Consolas', lineHeight: 1, opacity: 0.92 }}&gt;&#10;            01&#10;        &lt;/Text&gt;&#10;        &lt;Text style={{ fontSize: 62, fontWeight: 'bold', color: '#F5F1E8', marginTop: 26, lineHeight: 1.15 }}&gt;&#10;            一个入口，三条链路&#10;        &lt;/Text&gt;&#10;        &lt;Box style={{ width: 72, height: 3, background: '#C8A24A', marginTop: 30 }} /&gt;&#10;        &lt;Text style={{ fontSize: 21, color: 'rgba(245,241,232,0.66)', marginTop: 28, lineHeight: 1.6 }}&gt;&#10;            研究员的同一个问题，系统自己判断该查哪里。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E1B2E"/>
              </a:gs>
              <a:gs pos="55000">
                <a:srgbClr val="16294A"/>
              </a:gs>
              <a:gs pos="100000">
                <a:srgbClr val="24487D"/>
              </a:gs>
            </a:gsLst>
            <a:lin ang="1680000" scaled="1"/>
          </a:gradFill>
          <a:ln/>
        </p:spPr>
        <p:txBody>
          <a:bodyPr/>
          <a:p/>
        </p:txBody>
      </p:sp>
      <p:pic>
        <p:nvPicPr>
          <p:cNvPr id="117" name=""/>
          <p:cNvPicPr>
            <a:picLocks noChangeAspect="1"/>
          </p:cNvPicPr>
          <p:nvPr/>
        </p:nvPicPr>
        <p:blipFill>
          <a:blip>
            <a:alphaModFix amt="40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1066800" y="3228975"/>
            <a:ext cx="8191500" cy="8191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650" b="1">
                <a:solidFill>
                  <a:srgbClr val="F5F1E8"/>
                </a:solidFill>
                <a:latin typeface="Microsoft YaHei"/>
                <a:ea typeface="Microsoft YaHei"/>
              </a:rPr>
              <a:t>一个入口，三条链路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1066800" y="4333875"/>
            <a:ext cx="685800" cy="28575"/>
          </a:xfrm>
          <a:prstGeom prst="rect">
            <a:avLst/>
          </a:prstGeom>
          <a:solidFill>
            <a:srgbClr val="C8A24A"/>
          </a:solidFill>
          <a:ln/>
        </p:spPr>
        <p:txBody>
          <a:bodyPr/>
          <a:p/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1066800" y="4629150"/>
            <a:ext cx="8191500" cy="3905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75">
                <a:solidFill>
                  <a:srgbClr val="F5F1E8">
                    <a:alpha val="66000"/>
                  </a:srgbClr>
                </a:solidFill>
                <a:latin typeface="Microsoft YaHei"/>
                <a:ea typeface="Microsoft YaHei"/>
              </a:rPr>
              <a:t>研究员的同一个问题，系统自己判断该查哪里。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1066800" y="1838325"/>
            <a:ext cx="8191500" cy="1143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0" b="1">
                <a:solidFill>
                  <a:srgbClr val="C8A24A">
                    <a:alpha val="92000"/>
                  </a:srgbClr>
                </a:solidFill>
                <a:latin typeface="Consolas"/>
                <a:ea typeface="Consolas"/>
              </a:rPr>
              <a:t>01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22" name="" descr="&lt;Slide style={{&#10;    width: 1280,&#10;    height: 720,&#10;    background: '#F5F1E8',&#10;    padding: '30px 72px 18px',&#10;    flexDirection: 'column',&#10;}}&gt;&#10;    &lt;Box style={{ flexDirection: 'row', alignItems: 'flex-end', justifyContent: 'space-between', height: 76 }}&gt;&#10;        &lt;Box style={{ flexDirection: 'column' }}&gt;&#10;            &lt;Text style={{ fontSize: 34, fontWeight: 'bold', color: '#0E1B2E' }}&gt;&#10;                从两天到八秒&#10;            &lt;/Text&gt;&#10;            &lt;Text style={{ fontSize: 15, color: 'rgba(14,27,46,0.55)', marginTop: 8 }}&gt;&#10;                瓶颈不是找不到文件，是找不到那句话在第几页&#10;            &lt;/Text&gt;&#10;        &lt;/Box&gt;&#10;        &lt;Text style={{ fontSize: 12, color: 'rgba(14,27,46,0.34)', letterSpacing: 2 }}&gt;&#10;            01 / 四条链路&#10;        &lt;/Text&gt;&#10;    &lt;/Box&gt;&#10;&#10;    &lt;Box style={{ flexDirection: 'row', gap: 36, marginTop: 26, flex: 1 }}&gt;&#10;        &lt;Box style={{ width: 706, flexDirection: 'column', gap: 20 }}&gt;&#10;            &lt;Box style={{&#10;                background: 'rgba(14,27,46,0.045)',&#10;                borderRadius: 14,&#10;                padding: '20px 22px 22px',&#10;                flexDirection: 'column',&#10;                border: '1px solid rgba(14,27,46,0.08)',&#10;            }}&gt;&#10;                &lt;Box style={{ flexDirection: 'row', justifyContent: 'space-between', alignItems: 'baseline' }}&gt;&#10;                    &lt;Text style={{ fontSize: 15, fontWeight: 'bold', color: 'rgba(14,27,46,0.72)' }}&gt;&#10;                        人工做法&#10;                    &lt;/Text&gt;&#10;                    &lt;Text style={{ fontSize: 28, fontWeight: 'bold', color: 'rgba(14,27,46,0.34)', fontFamily: 'Consolas' }}&gt;&#10;                        2 天&#10;                    &lt;/Text&gt;&#10;                &lt;/Box&gt;&#10;                &lt;Box style={{ flexDirection: 'row', gap: 9, marginTop: 16, alignItems: 'center' }}&gt;&#10;                    &lt;Box style={{ flex: 1, background: '#F5F1E8', borderRadius: 8, padding: '11px 6px', alignItems: 'center' }}&gt;&#10;                        &lt;Text style={{ fontSize: 12.5, color: 'rgba(14,27,46,0.66)' }}&gt;翻 60 份 PDF&lt;/Text&gt;&#10;                    &lt;/Box&gt;&#10;                    &lt;Text style={{ fontSize: 13, color: 'rgba(14,27,46,0.28)' }}&gt;›&lt;/Text&gt;&#10;                    &lt;Box style={{ flex: 1, background: '#F5F1E8', borderRadius: 8, padding: '11px 6px', alignItems: 'center' }}&gt;&#10;                        &lt;Text style={{ fontSize: 12.5, color: 'rgba(14,27,46,0.66)' }}&gt;定位章节&lt;/Text&gt;&#10;                    &lt;/Box&gt;&#10;                    &lt;Text style={{ fontSize: 13, color: 'rgba(14,27,46,0.28)' }}&gt;›&lt;/Text&gt;&#10;                    &lt;Box style={{ flex: 1, background: '#F5F1E8', borderRadius: 8, padding: '11px 6px', alignItems: 'center' }}&gt;&#10;                        &lt;Text style={{ fontSize: 12.5, color: 'rgba(14,27,46,0.66)' }}&gt;抄数字&lt;/Text&gt;&#10;                    &lt;/Box&gt;&#10;                    &lt;Text style={{ fontSize: 13, color: 'rgba(14,27,46,0.28)' }}&gt;›&lt;/Text&gt;&#10;                    &lt;Box style={{ flex: 1, background: '#F5F1E8', borderRadius: 8, padding: '11px 6px', alignItems: 'center' }}&gt;&#10;                        &lt;Text style={{ fontSize: 12.5, color: 'rgba(14,27,46,0.66)' }}&gt;核对口径&lt;/Text&gt;&#10;                    &lt;/Box&gt;&#10;                &lt;/Box&gt;&#10;            &lt;/Box&gt;&#10;&#10;            &lt;Box style={{&#10;                background: 'rgba(47,93,158,0.07)',&#10;                borderRadius: 14,&#10;                padding: '20px 22px 22px',&#10;                flexDirection: 'column',&#10;                border: '1px solid rgba(47,93,158,0.18)',&#10;            }}&gt;&#10;                &lt;Box style={{ flexDirection: 'row', justifyContent: 'space-between', alignItems: 'baseline' }}&gt;&#10;                    &lt;Text style={{ fontSize: 15, fontWeight: 'bold', color: '#2F5D9E' }}&gt;&#10;                        系统做法&#10;                    &lt;/Text&gt;&#10;                    &lt;Text style={{ fontSize: 28, fontWeight: 'bold', color: '#0E1B2E', fontFamily: 'Consolas' }}&gt;&#10;                        8 秒&#10;                    &lt;/Text&gt;&#10;                &lt;/Box&gt;&#10;                &lt;Box style={{ flexDirection: 'row', gap: 9, marginTop: 16, alignItems: 'center' }}&gt;&#10;                    &lt;Box style={{ flex: 1, background: '#FFFFFF', borderRadius: 8, padding: '11px 6px', alignItems: 'center', border: '1px solid rgba(47,93,158,0.14)' }}&gt;&#10;                        &lt;Text style={{ fontSize: 12.5, color: '#0E1B2E' }}&gt;一句话提问&lt;/Text&gt;&#10;                    &lt;/Box&gt;&#10;                    &lt;Text style={{ fontSize: 13, color: 'rgba(47,93,158,0.4)' }}&gt;›&lt;/Text&gt;&#10;                    &lt;Box style={{ flex: 1, background: '#FFFFFF', borderRadius: 8, padding: '11px 6px', alignItems: 'center', border: '1px solid rgba(47,93,158,0.14)' }}&gt;&#10;                        &lt;Text style={{ fontSize: 12.5, color: '#0E1B2E' }}&gt;意图路由&lt;/Text&gt;&#10;                    &lt;/Box&gt;&#10;                    &lt;Text style={{ fontSize: 13, color: 'rgba(47,93,158,0.4)' }}&gt;›&lt;/Text&gt;&#10;                    &lt;Box style={{ flex: 1, background: '#FFFFFF', borderRadius: 8, padding: '11px 6px', alignItems: 'center', border: '1px solid rgba(47,93,158,0.14)' }}&gt;&#10;                        &lt;Text style={{ fontSize: 12.5, color: '#0E1B2E' }}&gt;检索 / 计算&lt;/Text&gt;&#10;                    &lt;/Box&gt;&#10;                    &lt;Text style={{ fontSize: 13, color: 'rgba(47,93,158,0.4)' }}&gt;›&lt;/Text&gt;&#10;                    &lt;Box style={{ flex: 1, background: '#0E1B2E', borderRadius: 8, padding: '11px 6px', alignItems: 'center' }}&gt;&#10;                        &lt;Text style={{ fontSize: 12.5, color: '#C8A24A' }}&gt;带页码答案&lt;/Text&gt;&#10;                    &lt;/Box&gt;&#10;                &lt;/Box&gt;&#10;            &lt;/Box&gt;&#10;&#10;            &lt;Box style={{ flexDirection: 'row', alignItems: 'center', gap: 12, marginTop: 4 }}&gt;&#10;                &lt;Box style={{ width: 3, height: 34, background: '#C8A24A' }} /&gt;&#10;                &lt;Text style={{ fontSize: 14.5, color: 'rgba(14,27,46,0.62)', lineHeight: 1.6, width: 680 }}&gt;&#10;                    省下的不是翻页时间，是「同一口径下横向对比 20 家」这件事从不可能变成默认动作。&#10;                &lt;/Text&gt;&#10;            &lt;/Box&gt;&#10;        &lt;/Box&gt;&#10;&#10;        &lt;Box style={{ flex: 1, flexDirection: 'column' }}&gt;&#10;            &lt;Text style={{ fontSize: 12, letterSpacing: 3, color: '#2F5D9E', fontWeight: 'bold' }}&gt;&#10;                三类高频问题&#10;            &lt;/Text&gt;&#10;            &lt;Box style={{ flexDirection: 'column', gap: 18, marginTop: 20 }}&gt;&#10;                &lt;Box style={{ flexDirection: 'column' }}&gt;&#10;                    &lt;Box style={{ flexDirection: 'row', alignItems: 'baseline', gap: 8 }}&gt;&#10;                        &lt;Text style={{ fontSize: 15, fontWeight: 'bold', color: '#0E1B2E' }}&gt;原文解释&lt;/Text&gt;&#10;                        &lt;Text style={{ fontSize: 11, color: '#C8A24A', fontFamily: 'Consolas' }}&gt;RAG&lt;/Text&gt;&#10;                    &lt;/Box&gt;&#10;                    &lt;Text style={{ fontSize: 13.5, color: 'rgba(14,27,46,0.58)', marginTop: 6, lineHeight: 1.6 }}&gt;&#10;                        年报里提了哪些经营风险？—— 要原文，还要页码。&#10;                    &lt;/Text&gt;&#10;                &lt;/Box&gt;&#10;                &lt;Box style={{ height: 1, background: 'rgba(14,27,46,0.08)' }} /&gt;&#10;                &lt;Box style={{ flexDirection: 'column' }}&gt;&#10;                    &lt;Box style={{ flexDirection: 'row', alignItems: 'baseline', gap: 8 }}&gt;&#10;                        &lt;Text style={{ fontSize: 15, fontWeight: 'bold', color: '#0E1B2E' }}&gt;指标计算&lt;/Text&gt;&#10;                        &lt;Text style={{ fontSize: 11, color: '#C8A24A', fontFamily: 'Consolas' }}&gt;SQL&lt;/Text&gt;&#10;                    &lt;/Box&gt;&#10;                    &lt;Text style={{ fontSize: 13.5, color: 'rgba(14,27,46,0.58)', marginTop: 6, lineHeight: 1.6 }}&gt;&#10;                        营收、毛利率、ROE、连续三年趋势 —— 要准确数字，不要接近。&#10;                    &lt;/Text&gt;&#10;                &lt;/Box&gt;&#10;                &lt;Box style={{ height: 1, background: 'rgba(14,27,46,0.08)' }} /&gt;&#10;                &lt;Box style={{ flexDirection: 'column' }}&gt;&#10;                    &lt;Box style={{ flexDirection: 'row', alignItems: 'baseline', gap: 8 }}&gt;&#10;                        &lt;Text style={{ fontSize: 15, fontWeight: 'bold', color: '#0E1B2E' }}&gt;跨公司横比&lt;/Text&gt;&#10;                        &lt;Text style={{ fontSize: 11, color: '#C8A24A', fontFamily: 'Consolas' }}&gt;SQL+&lt;/Text&gt;&#10;                    &lt;/Box&gt;&#10;                    &lt;Text style={{ fontSize: 13.5, color: 'rgba(14,27,46,0.58)', marginTop: 6, lineHeight: 1.6 }}&gt;&#10;                        20 家里谁的下滑最快？—— 一次成表，而不是开 20 个窗口。&#10;                    &lt;/Text&gt;&#10;                &lt;/Box&gt;&#10;            &lt;/Box&gt;&#10;        &lt;/Box&gt;&#10;    &lt;/Box&gt;&#10;&#10;    &lt;Box style={{ height: 32, flexDirection: 'row', justifyContent: 'space-between', alignItems: 'flex-end' }}&gt;&#10;        &lt;Text style={{ fontSize: 12, color: 'rgba(14,27,46,0.34)' }}&gt;FinSight · 白酒行业智能投研&lt;/Text&gt;&#10;        &lt;Text style={{ fontSize: 12, color: 'rgba(14,27,46,0.34)', fontFamily: 'Consolas' }}&gt;04 / 12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/>
        </p:spPr>
        <p:txBody>
          <a:bodyPr/>
          <a:p/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685800" y="371475"/>
            <a:ext cx="30003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1B2E"/>
                </a:solidFill>
                <a:latin typeface="Microsoft YaHei"/>
                <a:ea typeface="Microsoft YaHei"/>
              </a:rPr>
              <a:t>从两天到八秒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685800" y="838200"/>
            <a:ext cx="3000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0E1B2E">
                    <a:alpha val="55000"/>
                  </a:srgbClr>
                </a:solidFill>
                <a:latin typeface="Microsoft YaHei"/>
                <a:ea typeface="Microsoft YaHei"/>
              </a:rPr>
              <a:t>瓶颈不是找不到文件，是找不到那句话在第几页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10620375" y="866775"/>
            <a:ext cx="8858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0E1B2E">
                    <a:alpha val="34000"/>
                  </a:srgbClr>
                </a:solidFill>
                <a:latin typeface="Microsoft YaHei"/>
                <a:ea typeface="Microsoft YaHei"/>
              </a:rPr>
              <a:t>01 / </a:t>
            </a:r>
            <a:r>
              <a:rPr lang="zh-CN" sz="900" spc="150">
                <a:solidFill>
                  <a:srgbClr val="0E1B2E">
                    <a:alpha val="34000"/>
                  </a:srgbClr>
                </a:solidFill>
                <a:latin typeface="Microsoft YaHei"/>
                <a:ea typeface="Microsoft YaHei"/>
              </a:rPr>
              <a:t>四条链路</a:t>
            </a:r>
            <a:endParaRPr/>
          </a:p>
        </p:txBody>
      </p:sp>
      <p:sp>
        <p:nvSpPr>
          <p:cNvPr id="127" name=""/>
          <p:cNvSpPr/>
          <p:nvPr/>
        </p:nvSpPr>
        <p:spPr>
          <a:xfrm rot="0" flipH="0" flipV="0">
            <a:off x="685800" y="1257300"/>
            <a:ext cx="6724650" cy="1228725"/>
          </a:xfrm>
          <a:prstGeom prst="roundRect">
            <a:avLst>
              <a:gd name="adj" fmla="val 10853"/>
            </a:avLst>
          </a:prstGeom>
          <a:solidFill>
            <a:srgbClr val="0E1B2E">
              <a:alpha val="4500"/>
            </a:srgbClr>
          </a:solidFill>
          <a:ln w="12700">
            <a:solidFill>
              <a:srgbClr val="0E1B2E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895350" y="1447800"/>
            <a:ext cx="5715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E1B2E">
                    <a:alpha val="72000"/>
                  </a:srgbClr>
                </a:solidFill>
                <a:latin typeface="Microsoft YaHei"/>
                <a:ea typeface="Microsoft YaHei"/>
              </a:rPr>
              <a:t>人工做法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6629400" y="1447800"/>
            <a:ext cx="5715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0E1B2E">
                    <a:alpha val="34000"/>
                  </a:srgbClr>
                </a:solidFill>
                <a:latin typeface="Consolas"/>
                <a:ea typeface="Consolas"/>
              </a:rPr>
              <a:t>2 </a:t>
            </a:r>
            <a:r>
              <a:rPr lang="zh-CN" sz="2100" b="1">
                <a:solidFill>
                  <a:srgbClr val="0E1B2E">
                    <a:alpha val="34000"/>
                  </a:srgbClr>
                </a:solidFill>
                <a:latin typeface="Consolas"/>
                <a:ea typeface="Consolas"/>
              </a:rPr>
              <a:t>天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895350" y="1924050"/>
            <a:ext cx="1409700" cy="352425"/>
          </a:xfrm>
          <a:prstGeom prst="roundRect">
            <a:avLst>
              <a:gd name="adj" fmla="val 21622"/>
            </a:avLst>
          </a:prstGeom>
          <a:solidFill>
            <a:srgbClr val="F5F1E8"/>
          </a:solidFill>
          <a:ln/>
        </p:spPr>
        <p:txBody>
          <a:bodyPr/>
          <a:p/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1247775" y="2028825"/>
            <a:ext cx="714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0E1B2E">
                    <a:alpha val="66000"/>
                  </a:srgbClr>
                </a:solidFill>
                <a:latin typeface="Microsoft YaHei"/>
                <a:ea typeface="Microsoft YaHei"/>
              </a:rPr>
              <a:t>翻</a:t>
            </a:r>
            <a:r>
              <a:rPr lang="en-US" sz="938">
                <a:solidFill>
                  <a:srgbClr val="0E1B2E">
                    <a:alpha val="66000"/>
                  </a:srgbClr>
                </a:solidFill>
                <a:latin typeface="Microsoft YaHei"/>
                <a:ea typeface="Microsoft YaHei"/>
              </a:rPr>
              <a:t> 60 </a:t>
            </a:r>
            <a:r>
              <a:rPr lang="zh-CN" sz="938">
                <a:solidFill>
                  <a:srgbClr val="0E1B2E">
                    <a:alpha val="66000"/>
                  </a:srgbClr>
                </a:solidFill>
                <a:latin typeface="Microsoft YaHei"/>
                <a:ea typeface="Microsoft YaHei"/>
              </a:rPr>
              <a:t>份</a:t>
            </a:r>
            <a:r>
              <a:rPr lang="en-US" sz="938">
                <a:solidFill>
                  <a:srgbClr val="0E1B2E">
                    <a:alpha val="66000"/>
                  </a:srgbClr>
                </a:solidFill>
                <a:latin typeface="Microsoft YaHei"/>
                <a:ea typeface="Microsoft YaHei"/>
              </a:rPr>
              <a:t> PDF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2390775" y="2028825"/>
            <a:ext cx="47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>
                <a:solidFill>
                  <a:srgbClr val="0E1B2E">
                    <a:alpha val="28000"/>
                  </a:srgbClr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33" name=""/>
          <p:cNvSpPr/>
          <p:nvPr/>
        </p:nvSpPr>
        <p:spPr>
          <a:xfrm rot="0" flipH="0" flipV="0">
            <a:off x="2524125" y="1924050"/>
            <a:ext cx="1419225" cy="352425"/>
          </a:xfrm>
          <a:prstGeom prst="roundRect">
            <a:avLst>
              <a:gd name="adj" fmla="val 21622"/>
            </a:avLst>
          </a:prstGeom>
          <a:solidFill>
            <a:srgbClr val="F5F1E8"/>
          </a:solidFill>
          <a:ln/>
        </p:spPr>
        <p:txBody>
          <a:bodyPr/>
          <a:p/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3000375" y="2028825"/>
            <a:ext cx="476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0E1B2E">
                    <a:alpha val="66000"/>
                  </a:srgbClr>
                </a:solidFill>
                <a:latin typeface="Microsoft YaHei"/>
                <a:ea typeface="Microsoft YaHei"/>
              </a:rPr>
              <a:t>定位章节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4029075" y="2028825"/>
            <a:ext cx="47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>
                <a:solidFill>
                  <a:srgbClr val="0E1B2E">
                    <a:alpha val="28000"/>
                  </a:srgbClr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4162425" y="1924050"/>
            <a:ext cx="1409700" cy="352425"/>
          </a:xfrm>
          <a:prstGeom prst="roundRect">
            <a:avLst>
              <a:gd name="adj" fmla="val 21622"/>
            </a:avLst>
          </a:prstGeom>
          <a:solidFill>
            <a:srgbClr val="F5F1E8"/>
          </a:solidFill>
          <a:ln/>
        </p:spPr>
        <p:txBody>
          <a:bodyPr/>
          <a:p/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4686300" y="2028825"/>
            <a:ext cx="361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0E1B2E">
                    <a:alpha val="66000"/>
                  </a:srgbClr>
                </a:solidFill>
                <a:latin typeface="Microsoft YaHei"/>
                <a:ea typeface="Microsoft YaHei"/>
              </a:rPr>
              <a:t>抄数字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5657850" y="2028825"/>
            <a:ext cx="47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>
                <a:solidFill>
                  <a:srgbClr val="0E1B2E">
                    <a:alpha val="28000"/>
                  </a:srgbClr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5791200" y="1924050"/>
            <a:ext cx="1409700" cy="352425"/>
          </a:xfrm>
          <a:prstGeom prst="roundRect">
            <a:avLst>
              <a:gd name="adj" fmla="val 21622"/>
            </a:avLst>
          </a:prstGeom>
          <a:solidFill>
            <a:srgbClr val="F5F1E8"/>
          </a:solidFill>
          <a:ln/>
        </p:spPr>
        <p:txBody>
          <a:bodyPr/>
          <a:p/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6257925" y="2028825"/>
            <a:ext cx="476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0E1B2E">
                    <a:alpha val="66000"/>
                  </a:srgbClr>
                </a:solidFill>
                <a:latin typeface="Microsoft YaHei"/>
                <a:ea typeface="Microsoft YaHei"/>
              </a:rPr>
              <a:t>核对口径</a:t>
            </a:r>
            <a:endParaRPr/>
          </a:p>
        </p:txBody>
      </p:sp>
      <p:sp>
        <p:nvSpPr>
          <p:cNvPr id="141" name=""/>
          <p:cNvSpPr/>
          <p:nvPr/>
        </p:nvSpPr>
        <p:spPr>
          <a:xfrm rot="0" flipH="0" flipV="0">
            <a:off x="685800" y="2676525"/>
            <a:ext cx="6724650" cy="1228725"/>
          </a:xfrm>
          <a:prstGeom prst="roundRect">
            <a:avLst>
              <a:gd name="adj" fmla="val 10853"/>
            </a:avLst>
          </a:prstGeom>
          <a:solidFill>
            <a:srgbClr val="2F5D9E">
              <a:alpha val="7000"/>
            </a:srgbClr>
          </a:solidFill>
          <a:ln w="12700">
            <a:solidFill>
              <a:srgbClr val="2F5D9E">
                <a:alpha val="1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895350" y="2867025"/>
            <a:ext cx="5715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F5D9E"/>
                </a:solidFill>
                <a:latin typeface="Microsoft YaHei"/>
                <a:ea typeface="Microsoft YaHei"/>
              </a:rPr>
              <a:t>系统做法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6629400" y="2867025"/>
            <a:ext cx="5715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0E1B2E"/>
                </a:solidFill>
                <a:latin typeface="Consolas"/>
                <a:ea typeface="Consolas"/>
              </a:rPr>
              <a:t>8 </a:t>
            </a:r>
            <a:r>
              <a:rPr lang="zh-CN" sz="2100" b="1">
                <a:solidFill>
                  <a:srgbClr val="0E1B2E"/>
                </a:solidFill>
                <a:latin typeface="Consolas"/>
                <a:ea typeface="Consolas"/>
              </a:rPr>
              <a:t>秒</a:t>
            </a:r>
            <a:endParaRPr/>
          </a:p>
        </p:txBody>
      </p:sp>
      <p:sp>
        <p:nvSpPr>
          <p:cNvPr id="144" name=""/>
          <p:cNvSpPr/>
          <p:nvPr/>
        </p:nvSpPr>
        <p:spPr>
          <a:xfrm rot="0" flipH="0" flipV="0">
            <a:off x="895350" y="3343275"/>
            <a:ext cx="1409700" cy="352425"/>
          </a:xfrm>
          <a:prstGeom prst="roundRect">
            <a:avLst>
              <a:gd name="adj" fmla="val 21622"/>
            </a:avLst>
          </a:prstGeom>
          <a:solidFill>
            <a:srgbClr val="FFFFFF"/>
          </a:solidFill>
          <a:ln w="12700">
            <a:solidFill>
              <a:srgbClr val="2F5D9E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1304925" y="3448050"/>
            <a:ext cx="6000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0E1B2E"/>
                </a:solidFill>
                <a:latin typeface="Microsoft YaHei"/>
                <a:ea typeface="Microsoft YaHei"/>
              </a:rPr>
              <a:t>一句话提问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2390775" y="3448050"/>
            <a:ext cx="47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>
                <a:solidFill>
                  <a:srgbClr val="2F5D9E">
                    <a:alpha val="40000"/>
                  </a:srgbClr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2524125" y="3343275"/>
            <a:ext cx="1419225" cy="352425"/>
          </a:xfrm>
          <a:prstGeom prst="roundRect">
            <a:avLst>
              <a:gd name="adj" fmla="val 21622"/>
            </a:avLst>
          </a:prstGeom>
          <a:solidFill>
            <a:srgbClr val="FFFFFF"/>
          </a:solidFill>
          <a:ln w="12700">
            <a:solidFill>
              <a:srgbClr val="2F5D9E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3000375" y="3448050"/>
            <a:ext cx="476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0E1B2E"/>
                </a:solidFill>
                <a:latin typeface="Microsoft YaHei"/>
                <a:ea typeface="Microsoft YaHei"/>
              </a:rPr>
              <a:t>意图路由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4029075" y="3448050"/>
            <a:ext cx="47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>
                <a:solidFill>
                  <a:srgbClr val="2F5D9E">
                    <a:alpha val="40000"/>
                  </a:srgbClr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50" name=""/>
          <p:cNvSpPr/>
          <p:nvPr/>
        </p:nvSpPr>
        <p:spPr>
          <a:xfrm rot="0" flipH="0" flipV="0">
            <a:off x="4162425" y="3343275"/>
            <a:ext cx="1409700" cy="352425"/>
          </a:xfrm>
          <a:prstGeom prst="roundRect">
            <a:avLst>
              <a:gd name="adj" fmla="val 21622"/>
            </a:avLst>
          </a:prstGeom>
          <a:solidFill>
            <a:srgbClr val="FFFFFF"/>
          </a:solidFill>
          <a:ln w="12700">
            <a:solidFill>
              <a:srgbClr val="2F5D9E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4572000" y="3448050"/>
            <a:ext cx="6000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0E1B2E"/>
                </a:solidFill>
                <a:latin typeface="Microsoft YaHei"/>
                <a:ea typeface="Microsoft YaHei"/>
              </a:rPr>
              <a:t>检索</a:t>
            </a:r>
            <a:r>
              <a:rPr lang="en-US" sz="938">
                <a:solidFill>
                  <a:srgbClr val="0E1B2E"/>
                </a:solidFill>
                <a:latin typeface="Microsoft YaHei"/>
                <a:ea typeface="Microsoft YaHei"/>
              </a:rPr>
              <a:t> / </a:t>
            </a:r>
            <a:r>
              <a:rPr lang="zh-CN" sz="938">
                <a:solidFill>
                  <a:srgbClr val="0E1B2E"/>
                </a:solidFill>
                <a:latin typeface="Microsoft YaHei"/>
                <a:ea typeface="Microsoft YaHei"/>
              </a:rPr>
              <a:t>计算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5657850" y="3448050"/>
            <a:ext cx="47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>
                <a:solidFill>
                  <a:srgbClr val="2F5D9E">
                    <a:alpha val="40000"/>
                  </a:srgbClr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53" name=""/>
          <p:cNvSpPr/>
          <p:nvPr/>
        </p:nvSpPr>
        <p:spPr>
          <a:xfrm rot="0" flipH="0" flipV="0">
            <a:off x="5791200" y="3343275"/>
            <a:ext cx="1409700" cy="352425"/>
          </a:xfrm>
          <a:prstGeom prst="roundRect">
            <a:avLst>
              <a:gd name="adj" fmla="val 21622"/>
            </a:avLst>
          </a:prstGeom>
          <a:solidFill>
            <a:srgbClr val="0E1B2E"/>
          </a:solidFill>
          <a:ln/>
        </p:spPr>
        <p:txBody>
          <a:bodyPr/>
          <a:p/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6200775" y="3448050"/>
            <a:ext cx="6000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C8A24A"/>
                </a:solidFill>
                <a:latin typeface="Microsoft YaHei"/>
                <a:ea typeface="Microsoft YaHei"/>
              </a:rPr>
              <a:t>带页码答案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685800" y="4133850"/>
            <a:ext cx="28575" cy="323850"/>
          </a:xfrm>
          <a:prstGeom prst="rect">
            <a:avLst/>
          </a:prstGeom>
          <a:solidFill>
            <a:srgbClr val="C8A24A"/>
          </a:solidFill>
          <a:ln/>
        </p:spPr>
        <p:txBody>
          <a:bodyPr/>
          <a:p/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828675" y="4162425"/>
            <a:ext cx="6477000" cy="2667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88">
                <a:solidFill>
                  <a:srgbClr val="0E1B2E">
                    <a:alpha val="62000"/>
                  </a:srgbClr>
                </a:solidFill>
                <a:latin typeface="Microsoft YaHei"/>
                <a:ea typeface="Microsoft YaHei"/>
              </a:rPr>
              <a:t>省下的不是翻页时间，是「同一口径下横向对比</a:t>
            </a:r>
            <a:r>
              <a:rPr lang="en-US" sz="1088">
                <a:solidFill>
                  <a:srgbClr val="0E1B2E">
                    <a:alpha val="62000"/>
                  </a:srgbClr>
                </a:solidFill>
                <a:latin typeface="Microsoft YaHei"/>
                <a:ea typeface="Microsoft YaHei"/>
              </a:rPr>
              <a:t> 20 </a:t>
            </a:r>
            <a:r>
              <a:rPr lang="zh-CN" sz="1088">
                <a:solidFill>
                  <a:srgbClr val="0E1B2E">
                    <a:alpha val="62000"/>
                  </a:srgbClr>
                </a:solidFill>
                <a:latin typeface="Microsoft YaHei"/>
                <a:ea typeface="Microsoft YaHei"/>
              </a:rPr>
              <a:t>家」这件事从不可能变成默认动作。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7753350" y="1257300"/>
            <a:ext cx="3752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 spc="225">
                <a:solidFill>
                  <a:srgbClr val="2F5D9E"/>
                </a:solidFill>
                <a:latin typeface="Microsoft YaHei"/>
                <a:ea typeface="Microsoft YaHei"/>
              </a:rPr>
              <a:t>三类高频问题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7753350" y="15906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E1B2E"/>
                </a:solidFill>
                <a:latin typeface="Microsoft YaHei"/>
                <a:ea typeface="Microsoft YaHei"/>
              </a:rPr>
              <a:t>原文解释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8401050" y="1590675"/>
            <a:ext cx="180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C8A24A"/>
                </a:solidFill>
                <a:latin typeface="Consolas"/>
                <a:ea typeface="Consolas"/>
              </a:rPr>
              <a:t>RAG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7753350" y="1819275"/>
            <a:ext cx="3752850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13">
                <a:solidFill>
                  <a:srgbClr val="0E1B2E">
                    <a:alpha val="58000"/>
                  </a:srgbClr>
                </a:solidFill>
                <a:latin typeface="Microsoft YaHei"/>
                <a:ea typeface="Microsoft YaHei"/>
              </a:rPr>
              <a:t>年报里提了哪些经营风险？——</a:t>
            </a:r>
            <a:r>
              <a:rPr lang="en-US" sz="1013">
                <a:solidFill>
                  <a:srgbClr val="0E1B2E">
                    <a:alpha val="58000"/>
                  </a:srgbClr>
                </a:solidFill>
                <a:latin typeface="Microsoft YaHei"/>
                <a:ea typeface="Microsoft YaHei"/>
              </a:rPr>
              <a:t> </a:t>
            </a:r>
            <a:r>
              <a:rPr lang="zh-CN" sz="1013">
                <a:solidFill>
                  <a:srgbClr val="0E1B2E">
                    <a:alpha val="58000"/>
                  </a:srgbClr>
                </a:solidFill>
                <a:latin typeface="Microsoft YaHei"/>
                <a:ea typeface="Microsoft YaHei"/>
              </a:rPr>
              <a:t>要原文，还要页码。</a:t>
            </a:r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7753350" y="2238375"/>
            <a:ext cx="3752850" cy="9525"/>
          </a:xfrm>
          <a:prstGeom prst="rect">
            <a:avLst/>
          </a:prstGeom>
          <a:solidFill>
            <a:srgbClr val="0E1B2E">
              <a:alpha val="8000"/>
            </a:srgbClr>
          </a:solidFill>
          <a:ln/>
        </p:spPr>
        <p:txBody>
          <a:bodyPr/>
          <a:p/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7753350" y="241935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E1B2E"/>
                </a:solidFill>
                <a:latin typeface="Microsoft YaHei"/>
                <a:ea typeface="Microsoft YaHei"/>
              </a:rPr>
              <a:t>指标计算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8401050" y="2419350"/>
            <a:ext cx="180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C8A24A"/>
                </a:solidFill>
                <a:latin typeface="Consolas"/>
                <a:ea typeface="Consolas"/>
              </a:rPr>
              <a:t>SQL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7753350" y="2647950"/>
            <a:ext cx="375285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13">
                <a:solidFill>
                  <a:srgbClr val="0E1B2E">
                    <a:alpha val="58000"/>
                  </a:srgbClr>
                </a:solidFill>
                <a:latin typeface="Microsoft YaHei"/>
                <a:ea typeface="Microsoft YaHei"/>
              </a:rPr>
              <a:t>营收、毛利率、</a:t>
            </a:r>
            <a:r>
              <a:rPr lang="en-US" sz="1013">
                <a:solidFill>
                  <a:srgbClr val="0E1B2E">
                    <a:alpha val="58000"/>
                  </a:srgbClr>
                </a:solidFill>
                <a:latin typeface="Microsoft YaHei"/>
                <a:ea typeface="Microsoft YaHei"/>
              </a:rPr>
              <a:t>ROE</a:t>
            </a:r>
            <a:r>
              <a:rPr lang="zh-CN" sz="1013">
                <a:solidFill>
                  <a:srgbClr val="0E1B2E">
                    <a:alpha val="58000"/>
                  </a:srgbClr>
                </a:solidFill>
                <a:latin typeface="Microsoft YaHei"/>
                <a:ea typeface="Microsoft YaHei"/>
              </a:rPr>
              <a:t>、连续三年趋势</a:t>
            </a:r>
            <a:r>
              <a:rPr lang="en-US" sz="1013">
                <a:solidFill>
                  <a:srgbClr val="0E1B2E">
                    <a:alpha val="58000"/>
                  </a:srgbClr>
                </a:solidFill>
                <a:latin typeface="Microsoft YaHei"/>
                <a:ea typeface="Microsoft YaHei"/>
              </a:rPr>
              <a:t> —— </a:t>
            </a:r>
            <a:r>
              <a:rPr lang="zh-CN" sz="1013">
                <a:solidFill>
                  <a:srgbClr val="0E1B2E">
                    <a:alpha val="58000"/>
                  </a:srgbClr>
                </a:solidFill>
                <a:latin typeface="Microsoft YaHei"/>
                <a:ea typeface="Microsoft YaHei"/>
              </a:rPr>
              <a:t>要准确数字，不要接近。</a:t>
            </a:r>
            <a:endParaRPr/>
          </a:p>
        </p:txBody>
      </p:sp>
      <p:sp>
        <p:nvSpPr>
          <p:cNvPr id="165" name=""/>
          <p:cNvSpPr/>
          <p:nvPr/>
        </p:nvSpPr>
        <p:spPr>
          <a:xfrm rot="0" flipH="0" flipV="0">
            <a:off x="7753350" y="3314700"/>
            <a:ext cx="3752850" cy="9525"/>
          </a:xfrm>
          <a:prstGeom prst="rect">
            <a:avLst/>
          </a:prstGeom>
          <a:solidFill>
            <a:srgbClr val="0E1B2E">
              <a:alpha val="8000"/>
            </a:srgbClr>
          </a:solidFill>
          <a:ln/>
        </p:spPr>
        <p:txBody>
          <a:bodyPr/>
          <a:p/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7753350" y="3495675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E1B2E"/>
                </a:solidFill>
                <a:latin typeface="Microsoft YaHei"/>
                <a:ea typeface="Microsoft YaHei"/>
              </a:rPr>
              <a:t>跨公司横比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8543925" y="3495675"/>
            <a:ext cx="238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C8A24A"/>
                </a:solidFill>
                <a:latin typeface="Consolas"/>
                <a:ea typeface="Consolas"/>
              </a:rPr>
              <a:t>SQL+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7753350" y="3724275"/>
            <a:ext cx="3752850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13">
                <a:solidFill>
                  <a:srgbClr val="0E1B2E">
                    <a:alpha val="58000"/>
                  </a:srgbClr>
                </a:solidFill>
                <a:latin typeface="Microsoft YaHei"/>
                <a:ea typeface="Microsoft YaHei"/>
              </a:rPr>
              <a:t>20 </a:t>
            </a:r>
            <a:r>
              <a:rPr lang="zh-CN" sz="1013">
                <a:solidFill>
                  <a:srgbClr val="0E1B2E">
                    <a:alpha val="58000"/>
                  </a:srgbClr>
                </a:solidFill>
                <a:latin typeface="Microsoft YaHei"/>
                <a:ea typeface="Microsoft YaHei"/>
              </a:rPr>
              <a:t>家里谁的下滑最快？——</a:t>
            </a:r>
            <a:r>
              <a:rPr lang="en-US" sz="1013">
                <a:solidFill>
                  <a:srgbClr val="0E1B2E">
                    <a:alpha val="58000"/>
                  </a:srgbClr>
                </a:solidFill>
                <a:latin typeface="Microsoft YaHei"/>
                <a:ea typeface="Microsoft YaHei"/>
              </a:rPr>
              <a:t> </a:t>
            </a:r>
            <a:r>
              <a:rPr lang="zh-CN" sz="1013">
                <a:solidFill>
                  <a:srgbClr val="0E1B2E">
                    <a:alpha val="58000"/>
                  </a:srgbClr>
                </a:solidFill>
                <a:latin typeface="Microsoft YaHei"/>
                <a:ea typeface="Microsoft YaHei"/>
              </a:rPr>
              <a:t>一次成表，而不是开</a:t>
            </a:r>
            <a:r>
              <a:rPr lang="en-US" sz="1013">
                <a:solidFill>
                  <a:srgbClr val="0E1B2E">
                    <a:alpha val="58000"/>
                  </a:srgbClr>
                </a:solidFill>
                <a:latin typeface="Microsoft YaHei"/>
                <a:ea typeface="Microsoft YaHei"/>
              </a:rPr>
              <a:t> 20 </a:t>
            </a:r>
            <a:r>
              <a:rPr lang="zh-CN" sz="1013">
                <a:solidFill>
                  <a:srgbClr val="0E1B2E">
                    <a:alpha val="58000"/>
                  </a:srgbClr>
                </a:solidFill>
                <a:latin typeface="Microsoft YaHei"/>
                <a:ea typeface="Microsoft YaHei"/>
              </a:rPr>
              <a:t>个窗口。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685800" y="6543675"/>
            <a:ext cx="14573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0E1B2E">
                    <a:alpha val="34000"/>
                  </a:srgbClr>
                </a:solidFill>
                <a:latin typeface="Microsoft YaHei"/>
                <a:ea typeface="Microsoft YaHei"/>
              </a:rPr>
              <a:t>FinSight · </a:t>
            </a:r>
            <a:r>
              <a:rPr lang="zh-CN" sz="900">
                <a:solidFill>
                  <a:srgbClr val="0E1B2E">
                    <a:alpha val="34000"/>
                  </a:srgbClr>
                </a:solidFill>
                <a:latin typeface="Microsoft YaHei"/>
                <a:ea typeface="Microsoft YaHei"/>
              </a:rPr>
              <a:t>白酒行业智能投研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11058525" y="6543675"/>
            <a:ext cx="447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0E1B2E">
                    <a:alpha val="34000"/>
                  </a:srgbClr>
                </a:solidFill>
                <a:latin typeface="Consolas"/>
                <a:ea typeface="Consolas"/>
              </a:rPr>
              <a:t>04 / 12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71" name="" descr="&lt;Slide style={{&#10;    width: 1280,&#10;    height: 720,&#10;    background: '#F5F1E8',&#10;    padding: '30px 72px 18px',&#10;    flexDirection: 'column',&#10;}}&gt;&#10;    &lt;Box style={{ flexDirection: 'row', alignItems: 'flex-end', justifyContent: 'space-between', height: 76 }}&gt;&#10;        &lt;Box style={{ flexDirection: 'column' }}&gt;&#10;            &lt;Text style={{ fontSize: 34, fontWeight: 'bold', color: '#0E1B2E' }}&gt;&#10;                一次提问，五层协作&#10;            &lt;/Text&gt;&#10;            &lt;Text style={{ fontSize: 15, color: 'rgba(14,27,46,0.55)', marginTop: 8 }}&gt;&#10;                路由错一次，答案就答非所问 —— 所以先分类，再决定查哪里&#10;            &lt;/Text&gt;&#10;        &lt;/Box&gt;&#10;        &lt;Text style={{ fontSize: 12, color: 'rgba(14,27,46,0.34)', letterSpacing: 2 }}&gt;&#10;            02 / 系统全景&#10;        &lt;/Text&gt;&#10;    &lt;/Box&gt;&#10;&#10;    &lt;Box style={{ marginTop: 26, flexDirection: 'column' }}&gt;&#10;        &lt;Box style={{ flexDirection: 'row', alignItems: 'center', gap: 0 }}&gt;&#10;            &lt;Box style={{ width: 196, height: 152, background: '#FFFFFF', borderRadius: 10, padding: '14px 14px', border: '1px solid rgba(14,27,46,0.10)', flexDirection: 'column' }}&gt;&#10;                &lt;Text style={{ fontSize: 10.5, letterSpacing: 2, color: '#2F5D9E', fontWeight: 'bold' }}&gt;DATA&lt;/Text&gt;&#10;                &lt;Text style={{ fontSize: 15, fontWeight: 'bold', color: '#0E1B2E', marginTop: 10 }}&gt;数据层&lt;/Text&gt;&#10;                &lt;Text style={{ fontSize: 12, color: 'rgba(14,27,46,0.55)', marginTop: 8, lineHeight: 1.6 }}&gt;&#10;                    60 份年报 PDF&lt;br /&gt;MySQL 财务指标&lt;br /&gt;十大股东&#10;                &lt;/Text&gt;&#10;            &lt;/Box&gt;&#10;&#10;            &lt;Box style={{ width: 38, alignItems: 'center' }}&gt;&#10;                &lt;Text style={{ fontSize: 16, color: 'rgba(200,162,74,0.9)' }}&gt;→&lt;/Text&gt;&#10;            &lt;/Box&gt;&#10;&#10;            &lt;Box style={{ width: 196, height: 152, background: '#FFFFFF', borderRadius: 10, padding: '14px 14px', border: '1px solid rgba(14,27,46,0.10)', flexDirection: 'column' }}&gt;&#10;                &lt;Text style={{ fontSize: 10.5, letterSpacing: 2, color: '#2F5D9E', fontWeight: 'bold' }}&gt;RETRIEVE&lt;/Text&gt;&#10;                &lt;Text style={{ fontSize: 15, fontWeight: 'bold', color: '#0E1B2E', marginTop: 10 }}&gt;召回层&lt;/Text&gt;&#10;                &lt;Text style={{ fontSize: 12, color: 'rgba(14,27,46,0.55)', marginTop: 8, lineHeight: 1.6 }}&gt;&#10;                    BM25 关键词&lt;br /&gt;Milvus 稠密+稀疏&lt;br /&gt;RRF 融合&#10;                &lt;/Text&gt;&#10;            &lt;/Box&gt;&#10;&#10;            &lt;Box style={{ width: 38, alignItems: 'center' }}&gt;&#10;                &lt;Text style={{ fontSize: 16, color: 'rgba(200,162,74,0.9)' }}&gt;→&lt;/Text&gt;&#10;            &lt;/Box&gt;&#10;&#10;            &lt;Box style={{ width: 196, height: 152, background: '#0E1B2E', borderRadius: 10, padding: '14px 14px', flexDirection: 'column' }}&gt;&#10;                &lt;Text style={{ fontSize: 10.5, letterSpacing: 2, color: '#C8A24A', fontWeight: 'bold' }}&gt;ROUTE&lt;/Text&gt;&#10;                &lt;Text style={{ fontSize: 15, fontWeight: 'bold', color: '#F5F1E8', marginTop: 10 }}&gt;路由层&lt;/Text&gt;&#10;                &lt;Text style={{ fontSize: 12, color: 'rgba(245,241,232,0.62)', marginTop: 8, lineHeight: 1.6 }}&gt;&#10;                    BERT 意图分类&lt;br /&gt;规则兜底&lt;br /&gt;SQL / RAG 分流&#10;                &lt;/Text&gt;&#10;            &lt;/Box&gt;&#10;&#10;            &lt;Box style={{ width: 38, alignItems: 'center' }}&gt;&#10;                &lt;Text style={{ fontSize: 16, color: 'rgba(200,162,74,0.9)' }}&gt;→&lt;/Text&gt;&#10;            &lt;/Box&gt;&#10;&#10;            &lt;Box style={{ width: 196, height: 152, background: '#FFFFFF', borderRadius: 10, padding: '14px 14px', border: '1px solid rgba(14,27,46,0.10)', flexDirection: 'column' }}&gt;&#10;                &lt;Text style={{ fontSize: 10.5, letterSpacing: 2, color: '#2F5D9E', fontWeight: 'bold' }}&gt;GENERATE&lt;/Text&gt;&#10;                &lt;Text style={{ fontSize: 15, fontWeight: 'bold', color: '#0E1B2E', marginTop: 10 }}&gt;生成层&lt;/Text&gt;&#10;                &lt;Text style={{ fontSize: 12, color: 'rgba(14,27,46,0.55)', marginTop: 8, lineHeight: 1.6 }}&gt;&#10;                    DeepSeek 总结&lt;br /&gt;强制带页码引用&lt;br /&gt;答案 ≤ 250 字&#10;                &lt;/Text&gt;&#10;            &lt;/Box&gt;&#10;&#10;            &lt;Box style={{ width: 38, alignItems: 'center' }}&gt;&#10;                &lt;Text style={{ fontSize: 16, color: 'rgba(200,162,74,0.9)' }}&gt;→&lt;/Text&gt;&#10;            &lt;/Box&gt;&#10;&#10;            &lt;Box style={{ width: 196, height: 152, background: 'rgba(47,93,158,0.09)', borderRadius: 10, padding: '14px 14px', border: '1px solid rgba(47,93,158,0.22)', flexDirection: 'column' }}&gt;&#10;                &lt;Text style={{ fontSize: 10.5, letterSpacing: 2, color: '#2F5D9E', fontWeight: 'bold' }}&gt;DELIVER&lt;/Text&gt;&#10;                &lt;Text style={{ fontSize: 15, fontWeight: 'bold', color: '#0E1B2E', marginTop: 10 }}&gt;界面层&lt;/Text&gt;&#10;                &lt;Text style={{ fontSize: 12, color: 'rgba(14,27,46,0.55)', marginTop: 8, lineHeight: 1.6 }}&gt;&#10;                    对话 / 图表&lt;br /&gt;板块卡 · 行情&lt;br /&gt;Word 报告导出&#10;                &lt;/Text&gt;&#10;            &lt;/Box&gt;&#10;        &lt;/Box&gt;&#10;&#10;        &lt;Box style={{ flexDirection: 'row', gap: 14, marginTop: 34 }}&gt;&#10;            &lt;Box style={{ flex: 1.35, background: '#FFFFFF', borderRadius: 12, padding: '16px 18px', border: '1px solid rgba(14,27,46,0.10)', flexDirection: 'column' }}&gt;&#10;                &lt;Box style={{ flexDirection: 'row', alignItems: 'baseline', justifyContent: 'space-between' }}&gt;&#10;                    &lt;Text style={{ fontSize: 15, fontWeight: 'bold', color: '#0E1B2E' }}&gt;自动模式&lt;/Text&gt;&#10;                    &lt;Text style={{ fontSize: 11, color: '#C8A24A', fontFamily: 'Consolas' }}&gt;mode=auto&lt;/Text&gt;&#10;                &lt;/Box&gt;&#10;                &lt;Text style={{ fontSize: 12.5, color: 'rgba(14,27,46,0.58)', marginTop: 8, lineHeight: 1.7 }}&gt;&#10;                    默认入口。先判意图，再决定走 SQL 还是 RAG；知识库外的问题（行情、荐股）交给通用回答并标注时效。&#10;                &lt;/Text&gt;&#10;            &lt;/Box&gt;&#10;            &lt;Box style={{ flex: 1, background: '#FFFFFF', borderRadius: 12, padding: '16px 18px', border: '1px solid rgba(14,27,46,0.10)', flexDirection: 'column' }}&gt;&#10;                &lt;Box style={{ flexDirection: 'row', alignItems: 'baseline', justifyContent: 'space-between' }}&gt;&#10;                    &lt;Text style={{ fontSize: 15, fontWeight: 'bold', color: '#0E1B2E' }}&gt;财务指标&lt;/Text&gt;&#10;                    &lt;Text style={{ fontSize: 11, color: '#C8A24A', fontFamily: 'Consolas' }}&gt;mode=sql&lt;/Text&gt;&#10;                &lt;/Box&gt;&#10;                &lt;Text style={{ fontSize: 12.5, color: 'rgba(14,27,46,0.58)', marginTop: 8, lineHeight: 1.7 }}&gt;&#10;                    强制 NL2SQL。适合明确要数字的问题，跳过检索环节。&#10;                &lt;/Text&gt;&#10;            &lt;/Box&gt;&#10;            &lt;Box style={{ flex: 1, background: '#FFFFFF', borderRadius: 12, padding: '16px 18px', border: '1px solid rgba(14,27,46,0.10)', flexDirection: 'column' }}&gt;&#10;                &lt;Box style={{ flexDirection: 'row', alignItems: 'baseline', justifyContent: 'space-between' }}&gt;&#10;                    &lt;Text style={{ fontSize: 15, fontWeight: 'bold', color: '#0E1B2E' }}&gt;年报原文&lt;/Text&gt;&#10;                    &lt;Text style={{ fontSize: 11, color: '#C8A24A', fontFamily: 'Consolas' }}&gt;mode=rag&lt;/Text&gt;&#10;                &lt;/Box&gt;&#10;                &lt;Text style={{ fontSize: 12.5, color: 'rgba(14,27,46,0.58)', marginTop: 8, lineHeight: 1.7 }}&gt;&#10;                    强制检索。适合要原文表述、要页码的场景。&#10;                &lt;/Text&gt;&#10;            &lt;/Box&gt;&#10;        &lt;/Box&gt;&#10;&#10;        &lt;Box style={{ flexDirection: 'row', alignItems: 'center', gap: 12, marginTop: 22 }}&gt;&#10;            &lt;Box style={{ width: 3, height: 32, background: '#C8A24A' }} /&gt;&#10;            &lt;Text style={{ fontSize: 14, color: 'rgba(14,27,46,0.62)', lineHeight: 1.6 }}&gt;&#10;                三条链路共用同一套数据与召回，区别只在「谁被强制」—— 所以错一次路由，整套答案都会偏。&#10;            &lt;/Text&gt;&#10;        &lt;/Box&gt;&#10;    &lt;/Box&gt;&#10;&#10;    &lt;Box style={{ height: 32, flexDirection: 'row', justifyContent: 'space-between', alignItems: 'flex-end', marginTop: 'auto' }}&gt;&#10;        &lt;Text style={{ fontSize: 12, color: 'rgba(14,27,46,0.34)' }}&gt;FinSight · 白酒行业智能投研&lt;/Text&gt;&#10;        &lt;Text style={{ fontSize: 12, color: 'rgba(14,27,46,0.34)', fontFamily: 'Consolas' }}&gt;05 / 12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/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685800" y="371475"/>
            <a:ext cx="39719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1B2E"/>
                </a:solidFill>
                <a:latin typeface="Microsoft YaHei"/>
                <a:ea typeface="Microsoft YaHei"/>
              </a:rPr>
              <a:t>一次提问，五层协作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685800" y="838200"/>
            <a:ext cx="39719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0E1B2E">
                    <a:alpha val="55000"/>
                  </a:srgbClr>
                </a:solidFill>
                <a:latin typeface="Microsoft YaHei"/>
                <a:ea typeface="Microsoft YaHei"/>
              </a:rPr>
              <a:t>路由错一次，答案就答非所问</a:t>
            </a:r>
            <a:r>
              <a:rPr lang="en-US" sz="1125">
                <a:solidFill>
                  <a:srgbClr val="0E1B2E">
                    <a:alpha val="55000"/>
                  </a:srgbClr>
                </a:solidFill>
                <a:latin typeface="Microsoft YaHei"/>
                <a:ea typeface="Microsoft YaHei"/>
              </a:rPr>
              <a:t> —— </a:t>
            </a:r>
            <a:r>
              <a:rPr lang="zh-CN" sz="1125">
                <a:solidFill>
                  <a:srgbClr val="0E1B2E">
                    <a:alpha val="55000"/>
                  </a:srgbClr>
                </a:solidFill>
                <a:latin typeface="Microsoft YaHei"/>
                <a:ea typeface="Microsoft YaHei"/>
              </a:rPr>
              <a:t>所以先分类，再决定查哪里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10620375" y="866775"/>
            <a:ext cx="8858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0E1B2E">
                    <a:alpha val="34000"/>
                  </a:srgbClr>
                </a:solidFill>
                <a:latin typeface="Microsoft YaHei"/>
                <a:ea typeface="Microsoft YaHei"/>
              </a:rPr>
              <a:t>02 / </a:t>
            </a:r>
            <a:r>
              <a:rPr lang="zh-CN" sz="900" spc="150">
                <a:solidFill>
                  <a:srgbClr val="0E1B2E">
                    <a:alpha val="34000"/>
                  </a:srgbClr>
                </a:solidFill>
                <a:latin typeface="Microsoft YaHei"/>
                <a:ea typeface="Microsoft YaHei"/>
              </a:rPr>
              <a:t>系统全景</a:t>
            </a:r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685800" y="1257300"/>
            <a:ext cx="1866900" cy="1447800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2700">
            <a:solidFill>
              <a:srgbClr val="0E1B2E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819150" y="1390650"/>
            <a:ext cx="16002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 spc="150">
                <a:solidFill>
                  <a:srgbClr val="2F5D9E"/>
                </a:solidFill>
                <a:latin typeface="Microsoft YaHei"/>
                <a:ea typeface="Microsoft YaHei"/>
              </a:rPr>
              <a:t>DATA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819150" y="1609725"/>
            <a:ext cx="1600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E1B2E"/>
                </a:solidFill>
                <a:latin typeface="Microsoft YaHei"/>
                <a:ea typeface="Microsoft YaHei"/>
              </a:rPr>
              <a:t>数据层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819150" y="1857375"/>
            <a:ext cx="1600200" cy="6667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0E1B2E">
                    <a:alpha val="55000"/>
                  </a:srgbClr>
                </a:solidFill>
                <a:latin typeface="Microsoft YaHei"/>
                <a:ea typeface="Microsoft YaHei"/>
              </a:rPr>
              <a:t>60 </a:t>
            </a:r>
            <a:r>
              <a:rPr lang="zh-CN" sz="900">
                <a:solidFill>
                  <a:srgbClr val="0E1B2E">
                    <a:alpha val="55000"/>
                  </a:srgbClr>
                </a:solidFill>
                <a:latin typeface="Microsoft YaHei"/>
                <a:ea typeface="Microsoft YaHei"/>
              </a:rPr>
              <a:t>份年报</a:t>
            </a:r>
            <a:r>
              <a:rPr lang="en-US" sz="900">
                <a:solidFill>
                  <a:srgbClr val="0E1B2E">
                    <a:alpha val="55000"/>
                  </a:srgbClr>
                </a:solidFill>
                <a:latin typeface="Microsoft YaHei"/>
                <a:ea typeface="Microsoft YaHei"/>
              </a:rPr>
              <a:t> PDF</a:t>
            </a:r>
            <a:endParaRPr/>
          </a:p>
          <a:p>
            <a:pPr>
              <a:lnSpc>
                <a:spcPct val="160000"/>
              </a:lnSpc>
            </a:pPr>
            <a:r>
              <a:rPr lang="en-US" sz="900">
                <a:solidFill>
                  <a:srgbClr val="0E1B2E">
                    <a:alpha val="55000"/>
                  </a:srgbClr>
                </a:solidFill>
                <a:latin typeface="Microsoft YaHei"/>
                <a:ea typeface="Microsoft YaHei"/>
              </a:rPr>
              <a:t>MySQL </a:t>
            </a:r>
            <a:r>
              <a:rPr lang="zh-CN" sz="900">
                <a:solidFill>
                  <a:srgbClr val="0E1B2E">
                    <a:alpha val="55000"/>
                  </a:srgbClr>
                </a:solidFill>
                <a:latin typeface="Microsoft YaHei"/>
                <a:ea typeface="Microsoft YaHei"/>
              </a:rPr>
              <a:t>财务指标</a:t>
            </a:r>
            <a:endParaRPr/>
          </a:p>
          <a:p>
            <a:pPr>
              <a:lnSpc>
                <a:spcPct val="160000"/>
              </a:lnSpc>
            </a:pPr>
            <a:r>
              <a:rPr lang="zh-CN" sz="900">
                <a:solidFill>
                  <a:srgbClr val="0E1B2E">
                    <a:alpha val="55000"/>
                  </a:srgbClr>
                </a:solidFill>
                <a:latin typeface="Microsoft YaHei"/>
                <a:ea typeface="Microsoft YaHei"/>
              </a:rPr>
              <a:t>十大股东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2657475" y="1885950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C8A24A">
                    <a:alpha val="90000"/>
                  </a:srgbClr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81" name=""/>
          <p:cNvSpPr/>
          <p:nvPr/>
        </p:nvSpPr>
        <p:spPr>
          <a:xfrm rot="0" flipH="0" flipV="0">
            <a:off x="2914650" y="1257300"/>
            <a:ext cx="1866900" cy="1447800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2700">
            <a:solidFill>
              <a:srgbClr val="0E1B2E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3048000" y="1390650"/>
            <a:ext cx="16002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 spc="150">
                <a:solidFill>
                  <a:srgbClr val="2F5D9E"/>
                </a:solidFill>
                <a:latin typeface="Microsoft YaHei"/>
                <a:ea typeface="Microsoft YaHei"/>
              </a:rPr>
              <a:t>RETRIEVE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3048000" y="1609725"/>
            <a:ext cx="1600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E1B2E"/>
                </a:solidFill>
                <a:latin typeface="Microsoft YaHei"/>
                <a:ea typeface="Microsoft YaHei"/>
              </a:rPr>
              <a:t>召回层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3048000" y="1857375"/>
            <a:ext cx="1600200" cy="6667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0E1B2E">
                    <a:alpha val="55000"/>
                  </a:srgbClr>
                </a:solidFill>
                <a:latin typeface="Microsoft YaHei"/>
                <a:ea typeface="Microsoft YaHei"/>
              </a:rPr>
              <a:t>BM25 </a:t>
            </a:r>
            <a:r>
              <a:rPr lang="zh-CN" sz="900">
                <a:solidFill>
                  <a:srgbClr val="0E1B2E">
                    <a:alpha val="55000"/>
                  </a:srgbClr>
                </a:solidFill>
                <a:latin typeface="Microsoft YaHei"/>
                <a:ea typeface="Microsoft YaHei"/>
              </a:rPr>
              <a:t>关键词</a:t>
            </a:r>
            <a:endParaRPr/>
          </a:p>
          <a:p>
            <a:pPr>
              <a:lnSpc>
                <a:spcPct val="160000"/>
              </a:lnSpc>
            </a:pPr>
            <a:r>
              <a:rPr lang="en-US" sz="900">
                <a:solidFill>
                  <a:srgbClr val="0E1B2E">
                    <a:alpha val="55000"/>
                  </a:srgbClr>
                </a:solidFill>
                <a:latin typeface="Microsoft YaHei"/>
                <a:ea typeface="Microsoft YaHei"/>
              </a:rPr>
              <a:t>Milvus </a:t>
            </a:r>
            <a:r>
              <a:rPr lang="zh-CN" sz="900">
                <a:solidFill>
                  <a:srgbClr val="0E1B2E">
                    <a:alpha val="55000"/>
                  </a:srgbClr>
                </a:solidFill>
                <a:latin typeface="Microsoft YaHei"/>
                <a:ea typeface="Microsoft YaHei"/>
              </a:rPr>
              <a:t>稠密</a:t>
            </a:r>
            <a:r>
              <a:rPr lang="en-US" sz="900">
                <a:solidFill>
                  <a:srgbClr val="0E1B2E">
                    <a:alpha val="55000"/>
                  </a:srgbClr>
                </a:solidFill>
                <a:latin typeface="Microsoft YaHei"/>
                <a:ea typeface="Microsoft YaHei"/>
              </a:rPr>
              <a:t>+</a:t>
            </a:r>
            <a:r>
              <a:rPr lang="zh-CN" sz="900">
                <a:solidFill>
                  <a:srgbClr val="0E1B2E">
                    <a:alpha val="55000"/>
                  </a:srgbClr>
                </a:solidFill>
                <a:latin typeface="Microsoft YaHei"/>
                <a:ea typeface="Microsoft YaHei"/>
              </a:rPr>
              <a:t>稀疏</a:t>
            </a:r>
            <a:endParaRPr/>
          </a:p>
          <a:p>
            <a:pPr>
              <a:lnSpc>
                <a:spcPct val="160000"/>
              </a:lnSpc>
            </a:pPr>
            <a:r>
              <a:rPr lang="en-US" sz="900">
                <a:solidFill>
                  <a:srgbClr val="0E1B2E">
                    <a:alpha val="55000"/>
                  </a:srgbClr>
                </a:solidFill>
                <a:latin typeface="Microsoft YaHei"/>
                <a:ea typeface="Microsoft YaHei"/>
              </a:rPr>
              <a:t>RRF </a:t>
            </a:r>
            <a:r>
              <a:rPr lang="zh-CN" sz="900">
                <a:solidFill>
                  <a:srgbClr val="0E1B2E">
                    <a:alpha val="55000"/>
                  </a:srgbClr>
                </a:solidFill>
                <a:latin typeface="Microsoft YaHei"/>
                <a:ea typeface="Microsoft YaHei"/>
              </a:rPr>
              <a:t>融合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4886325" y="1885950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C8A24A">
                    <a:alpha val="90000"/>
                  </a:srgbClr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5143500" y="1257300"/>
            <a:ext cx="1866900" cy="1447800"/>
          </a:xfrm>
          <a:prstGeom prst="roundRect">
            <a:avLst>
              <a:gd name="adj" fmla="val 6579"/>
            </a:avLst>
          </a:prstGeom>
          <a:solidFill>
            <a:srgbClr val="0E1B2E"/>
          </a:solidFill>
          <a:ln/>
        </p:spPr>
        <p:txBody>
          <a:bodyPr/>
          <a:p/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5276850" y="1390650"/>
            <a:ext cx="16002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 spc="150">
                <a:solidFill>
                  <a:srgbClr val="C8A24A"/>
                </a:solidFill>
                <a:latin typeface="Microsoft YaHei"/>
                <a:ea typeface="Microsoft YaHei"/>
              </a:rPr>
              <a:t>ROUTE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5276850" y="1609725"/>
            <a:ext cx="1600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5F1E8"/>
                </a:solidFill>
                <a:latin typeface="Microsoft YaHei"/>
                <a:ea typeface="Microsoft YaHei"/>
              </a:rPr>
              <a:t>路由层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5276850" y="1857375"/>
            <a:ext cx="1600200" cy="6667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F5F1E8">
                    <a:alpha val="62000"/>
                  </a:srgbClr>
                </a:solidFill>
                <a:latin typeface="Microsoft YaHei"/>
                <a:ea typeface="Microsoft YaHei"/>
              </a:rPr>
              <a:t>BERT </a:t>
            </a:r>
            <a:r>
              <a:rPr lang="zh-CN" sz="900">
                <a:solidFill>
                  <a:srgbClr val="F5F1E8">
                    <a:alpha val="62000"/>
                  </a:srgbClr>
                </a:solidFill>
                <a:latin typeface="Microsoft YaHei"/>
                <a:ea typeface="Microsoft YaHei"/>
              </a:rPr>
              <a:t>意图分类</a:t>
            </a:r>
            <a:endParaRPr/>
          </a:p>
          <a:p>
            <a:pPr>
              <a:lnSpc>
                <a:spcPct val="160000"/>
              </a:lnSpc>
            </a:pPr>
            <a:r>
              <a:rPr lang="zh-CN" sz="900">
                <a:solidFill>
                  <a:srgbClr val="F5F1E8">
                    <a:alpha val="62000"/>
                  </a:srgbClr>
                </a:solidFill>
                <a:latin typeface="Microsoft YaHei"/>
                <a:ea typeface="Microsoft YaHei"/>
              </a:rPr>
              <a:t>规则兜底</a:t>
            </a:r>
            <a:endParaRPr/>
          </a:p>
          <a:p>
            <a:pPr>
              <a:lnSpc>
                <a:spcPct val="160000"/>
              </a:lnSpc>
            </a:pPr>
            <a:r>
              <a:rPr lang="en-US" sz="900">
                <a:solidFill>
                  <a:srgbClr val="F5F1E8">
                    <a:alpha val="62000"/>
                  </a:srgbClr>
                </a:solidFill>
                <a:latin typeface="Microsoft YaHei"/>
                <a:ea typeface="Microsoft YaHei"/>
              </a:rPr>
              <a:t>SQL / RAG </a:t>
            </a:r>
            <a:r>
              <a:rPr lang="zh-CN" sz="900">
                <a:solidFill>
                  <a:srgbClr val="F5F1E8">
                    <a:alpha val="62000"/>
                  </a:srgbClr>
                </a:solidFill>
                <a:latin typeface="Microsoft YaHei"/>
                <a:ea typeface="Microsoft YaHei"/>
              </a:rPr>
              <a:t>分流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7115175" y="1885950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C8A24A">
                    <a:alpha val="90000"/>
                  </a:srgbClr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91" name=""/>
          <p:cNvSpPr/>
          <p:nvPr/>
        </p:nvSpPr>
        <p:spPr>
          <a:xfrm rot="0" flipH="0" flipV="0">
            <a:off x="7372350" y="1257300"/>
            <a:ext cx="1866900" cy="1447800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2700">
            <a:solidFill>
              <a:srgbClr val="0E1B2E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7505700" y="1390650"/>
            <a:ext cx="16002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 spc="150">
                <a:solidFill>
                  <a:srgbClr val="2F5D9E"/>
                </a:solidFill>
                <a:latin typeface="Microsoft YaHei"/>
                <a:ea typeface="Microsoft YaHei"/>
              </a:rPr>
              <a:t>GENERATE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7505700" y="1609725"/>
            <a:ext cx="1600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E1B2E"/>
                </a:solidFill>
                <a:latin typeface="Microsoft YaHei"/>
                <a:ea typeface="Microsoft YaHei"/>
              </a:rPr>
              <a:t>生成层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7505700" y="1857375"/>
            <a:ext cx="1600200" cy="6667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0E1B2E">
                    <a:alpha val="55000"/>
                  </a:srgbClr>
                </a:solidFill>
                <a:latin typeface="Microsoft YaHei"/>
                <a:ea typeface="Microsoft YaHei"/>
              </a:rPr>
              <a:t>DeepSeek </a:t>
            </a:r>
            <a:r>
              <a:rPr lang="zh-CN" sz="900">
                <a:solidFill>
                  <a:srgbClr val="0E1B2E">
                    <a:alpha val="55000"/>
                  </a:srgbClr>
                </a:solidFill>
                <a:latin typeface="Microsoft YaHei"/>
                <a:ea typeface="Microsoft YaHei"/>
              </a:rPr>
              <a:t>总结</a:t>
            </a:r>
            <a:endParaRPr/>
          </a:p>
          <a:p>
            <a:pPr>
              <a:lnSpc>
                <a:spcPct val="160000"/>
              </a:lnSpc>
            </a:pPr>
            <a:r>
              <a:rPr lang="zh-CN" sz="900">
                <a:solidFill>
                  <a:srgbClr val="0E1B2E">
                    <a:alpha val="55000"/>
                  </a:srgbClr>
                </a:solidFill>
                <a:latin typeface="Microsoft YaHei"/>
                <a:ea typeface="Microsoft YaHei"/>
              </a:rPr>
              <a:t>强制带页码引用</a:t>
            </a:r>
            <a:endParaRPr/>
          </a:p>
          <a:p>
            <a:pPr>
              <a:lnSpc>
                <a:spcPct val="160000"/>
              </a:lnSpc>
            </a:pPr>
            <a:r>
              <a:rPr lang="zh-CN" sz="900">
                <a:solidFill>
                  <a:srgbClr val="0E1B2E">
                    <a:alpha val="55000"/>
                  </a:srgbClr>
                </a:solidFill>
                <a:latin typeface="Microsoft YaHei"/>
                <a:ea typeface="Microsoft YaHei"/>
              </a:rPr>
              <a:t>答案</a:t>
            </a:r>
            <a:r>
              <a:rPr lang="en-US" sz="900">
                <a:solidFill>
                  <a:srgbClr val="0E1B2E">
                    <a:alpha val="55000"/>
                  </a:srgbClr>
                </a:solidFill>
                <a:latin typeface="Microsoft YaHei"/>
                <a:ea typeface="Microsoft YaHei"/>
              </a:rPr>
              <a:t> ≤ 250 </a:t>
            </a:r>
            <a:r>
              <a:rPr lang="zh-CN" sz="900">
                <a:solidFill>
                  <a:srgbClr val="0E1B2E">
                    <a:alpha val="55000"/>
                  </a:srgbClr>
                </a:solidFill>
                <a:latin typeface="Microsoft YaHei"/>
                <a:ea typeface="Microsoft YaHei"/>
              </a:rPr>
              <a:t>字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9344025" y="1885950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C8A24A">
                    <a:alpha val="90000"/>
                  </a:srgbClr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96" name=""/>
          <p:cNvSpPr/>
          <p:nvPr/>
        </p:nvSpPr>
        <p:spPr>
          <a:xfrm rot="0" flipH="0" flipV="0">
            <a:off x="9601200" y="1257300"/>
            <a:ext cx="1866900" cy="1447800"/>
          </a:xfrm>
          <a:prstGeom prst="roundRect">
            <a:avLst>
              <a:gd name="adj" fmla="val 6579"/>
            </a:avLst>
          </a:prstGeom>
          <a:solidFill>
            <a:srgbClr val="2F5D9E">
              <a:alpha val="9000"/>
            </a:srgbClr>
          </a:solidFill>
          <a:ln w="12700">
            <a:solidFill>
              <a:srgbClr val="2F5D9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9734550" y="1390650"/>
            <a:ext cx="16002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 spc="150">
                <a:solidFill>
                  <a:srgbClr val="2F5D9E"/>
                </a:solidFill>
                <a:latin typeface="Microsoft YaHei"/>
                <a:ea typeface="Microsoft YaHei"/>
              </a:rPr>
              <a:t>DELIVER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9734550" y="1609725"/>
            <a:ext cx="1600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E1B2E"/>
                </a:solidFill>
                <a:latin typeface="Microsoft YaHei"/>
                <a:ea typeface="Microsoft YaHei"/>
              </a:rPr>
              <a:t>界面层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9734550" y="1857375"/>
            <a:ext cx="1600200" cy="6667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00">
                <a:solidFill>
                  <a:srgbClr val="0E1B2E">
                    <a:alpha val="55000"/>
                  </a:srgbClr>
                </a:solidFill>
                <a:latin typeface="Microsoft YaHei"/>
                <a:ea typeface="Microsoft YaHei"/>
              </a:rPr>
              <a:t>对话</a:t>
            </a:r>
            <a:r>
              <a:rPr lang="en-US" sz="900">
                <a:solidFill>
                  <a:srgbClr val="0E1B2E">
                    <a:alpha val="55000"/>
                  </a:srgbClr>
                </a:solidFill>
                <a:latin typeface="Microsoft YaHei"/>
                <a:ea typeface="Microsoft YaHei"/>
              </a:rPr>
              <a:t> / </a:t>
            </a:r>
            <a:r>
              <a:rPr lang="zh-CN" sz="900">
                <a:solidFill>
                  <a:srgbClr val="0E1B2E">
                    <a:alpha val="55000"/>
                  </a:srgbClr>
                </a:solidFill>
                <a:latin typeface="Microsoft YaHei"/>
                <a:ea typeface="Microsoft YaHei"/>
              </a:rPr>
              <a:t>图表</a:t>
            </a:r>
            <a:endParaRPr/>
          </a:p>
          <a:p>
            <a:pPr>
              <a:lnSpc>
                <a:spcPct val="160000"/>
              </a:lnSpc>
            </a:pPr>
            <a:r>
              <a:rPr lang="zh-CN" sz="900">
                <a:solidFill>
                  <a:srgbClr val="0E1B2E">
                    <a:alpha val="55000"/>
                  </a:srgbClr>
                </a:solidFill>
                <a:latin typeface="Microsoft YaHei"/>
                <a:ea typeface="Microsoft YaHei"/>
              </a:rPr>
              <a:t>板块卡</a:t>
            </a:r>
            <a:r>
              <a:rPr lang="en-US" sz="900">
                <a:solidFill>
                  <a:srgbClr val="0E1B2E">
                    <a:alpha val="5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0E1B2E">
                    <a:alpha val="55000"/>
                  </a:srgbClr>
                </a:solidFill>
                <a:latin typeface="Microsoft YaHei"/>
                <a:ea typeface="Microsoft YaHei"/>
              </a:rPr>
              <a:t>行情</a:t>
            </a:r>
            <a:endParaRPr/>
          </a:p>
          <a:p>
            <a:pPr>
              <a:lnSpc>
                <a:spcPct val="160000"/>
              </a:lnSpc>
            </a:pPr>
            <a:r>
              <a:rPr lang="en-US" sz="900">
                <a:solidFill>
                  <a:srgbClr val="0E1B2E">
                    <a:alpha val="55000"/>
                  </a:srgbClr>
                </a:solidFill>
                <a:latin typeface="Microsoft YaHei"/>
                <a:ea typeface="Microsoft YaHei"/>
              </a:rPr>
              <a:t>Word </a:t>
            </a:r>
            <a:r>
              <a:rPr lang="zh-CN" sz="900">
                <a:solidFill>
                  <a:srgbClr val="0E1B2E">
                    <a:alpha val="55000"/>
                  </a:srgbClr>
                </a:solidFill>
                <a:latin typeface="Microsoft YaHei"/>
                <a:ea typeface="Microsoft YaHei"/>
              </a:rPr>
              <a:t>报告导出</a:t>
            </a:r>
            <a:endParaRPr/>
          </a:p>
        </p:txBody>
      </p:sp>
      <p:sp>
        <p:nvSpPr>
          <p:cNvPr id="200" name=""/>
          <p:cNvSpPr/>
          <p:nvPr/>
        </p:nvSpPr>
        <p:spPr>
          <a:xfrm rot="0" flipH="0" flipV="0">
            <a:off x="685800" y="3028950"/>
            <a:ext cx="4257675" cy="1038225"/>
          </a:xfrm>
          <a:prstGeom prst="roundRect">
            <a:avLst>
              <a:gd name="adj" fmla="val 11009"/>
            </a:avLst>
          </a:prstGeom>
          <a:solidFill>
            <a:srgbClr val="FFFFFF"/>
          </a:solidFill>
          <a:ln w="12700">
            <a:solidFill>
              <a:srgbClr val="0E1B2E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857250" y="318135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E1B2E"/>
                </a:solidFill>
                <a:latin typeface="Microsoft YaHei"/>
                <a:ea typeface="Microsoft YaHei"/>
              </a:rPr>
              <a:t>自动模式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4248150" y="3181350"/>
            <a:ext cx="523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C8A24A"/>
                </a:solidFill>
                <a:latin typeface="Consolas"/>
                <a:ea typeface="Consolas"/>
              </a:rPr>
              <a:t>mode=auto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857250" y="3429000"/>
            <a:ext cx="3914775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38">
                <a:solidFill>
                  <a:srgbClr val="0E1B2E">
                    <a:alpha val="58000"/>
                  </a:srgbClr>
                </a:solidFill>
                <a:latin typeface="Microsoft YaHei"/>
                <a:ea typeface="Microsoft YaHei"/>
              </a:rPr>
              <a:t>默认入口。先判意图，再决定走</a:t>
            </a:r>
            <a:r>
              <a:rPr lang="en-US" sz="938">
                <a:solidFill>
                  <a:srgbClr val="0E1B2E">
                    <a:alpha val="58000"/>
                  </a:srgbClr>
                </a:solidFill>
                <a:latin typeface="Microsoft YaHei"/>
                <a:ea typeface="Microsoft YaHei"/>
              </a:rPr>
              <a:t> SQL </a:t>
            </a:r>
            <a:r>
              <a:rPr lang="zh-CN" sz="938">
                <a:solidFill>
                  <a:srgbClr val="0E1B2E">
                    <a:alpha val="58000"/>
                  </a:srgbClr>
                </a:solidFill>
                <a:latin typeface="Microsoft YaHei"/>
                <a:ea typeface="Microsoft YaHei"/>
              </a:rPr>
              <a:t>还是</a:t>
            </a:r>
            <a:r>
              <a:rPr lang="en-US" sz="938">
                <a:solidFill>
                  <a:srgbClr val="0E1B2E">
                    <a:alpha val="58000"/>
                  </a:srgbClr>
                </a:solidFill>
                <a:latin typeface="Microsoft YaHei"/>
                <a:ea typeface="Microsoft YaHei"/>
              </a:rPr>
              <a:t> RAG</a:t>
            </a:r>
            <a:r>
              <a:rPr lang="zh-CN" sz="938">
                <a:solidFill>
                  <a:srgbClr val="0E1B2E">
                    <a:alpha val="58000"/>
                  </a:srgbClr>
                </a:solidFill>
                <a:latin typeface="Microsoft YaHei"/>
                <a:ea typeface="Microsoft YaHei"/>
              </a:rPr>
              <a:t>；知识库外的问题（行情、荐股）交给通用回答并标注时效。</a:t>
            </a:r>
            <a:endParaRPr/>
          </a:p>
        </p:txBody>
      </p:sp>
      <p:sp>
        <p:nvSpPr>
          <p:cNvPr id="204" name=""/>
          <p:cNvSpPr/>
          <p:nvPr/>
        </p:nvSpPr>
        <p:spPr>
          <a:xfrm rot="0" flipH="0" flipV="0">
            <a:off x="5076825" y="3028950"/>
            <a:ext cx="3143250" cy="1038225"/>
          </a:xfrm>
          <a:prstGeom prst="roundRect">
            <a:avLst>
              <a:gd name="adj" fmla="val 11009"/>
            </a:avLst>
          </a:prstGeom>
          <a:solidFill>
            <a:srgbClr val="FFFFFF"/>
          </a:solidFill>
          <a:ln w="12700">
            <a:solidFill>
              <a:srgbClr val="0E1B2E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5248275" y="318135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E1B2E"/>
                </a:solidFill>
                <a:latin typeface="Microsoft YaHei"/>
                <a:ea typeface="Microsoft YaHei"/>
              </a:rPr>
              <a:t>财务指标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7581900" y="3181350"/>
            <a:ext cx="466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C8A24A"/>
                </a:solidFill>
                <a:latin typeface="Consolas"/>
                <a:ea typeface="Consolas"/>
              </a:rPr>
              <a:t>mode=sql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5248275" y="3429000"/>
            <a:ext cx="280035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38">
                <a:solidFill>
                  <a:srgbClr val="0E1B2E">
                    <a:alpha val="58000"/>
                  </a:srgbClr>
                </a:solidFill>
                <a:latin typeface="Microsoft YaHei"/>
                <a:ea typeface="Microsoft YaHei"/>
              </a:rPr>
              <a:t>强制</a:t>
            </a:r>
            <a:r>
              <a:rPr lang="en-US" sz="938">
                <a:solidFill>
                  <a:srgbClr val="0E1B2E">
                    <a:alpha val="58000"/>
                  </a:srgbClr>
                </a:solidFill>
                <a:latin typeface="Microsoft YaHei"/>
                <a:ea typeface="Microsoft YaHei"/>
              </a:rPr>
              <a:t> NL2SQL</a:t>
            </a:r>
            <a:r>
              <a:rPr lang="zh-CN" sz="938">
                <a:solidFill>
                  <a:srgbClr val="0E1B2E">
                    <a:alpha val="58000"/>
                  </a:srgbClr>
                </a:solidFill>
                <a:latin typeface="Microsoft YaHei"/>
                <a:ea typeface="Microsoft YaHei"/>
              </a:rPr>
              <a:t>。适合明确要数字的问题，跳过检索环节。</a:t>
            </a:r>
            <a:endParaRPr/>
          </a:p>
        </p:txBody>
      </p:sp>
      <p:sp>
        <p:nvSpPr>
          <p:cNvPr id="208" name=""/>
          <p:cNvSpPr/>
          <p:nvPr/>
        </p:nvSpPr>
        <p:spPr>
          <a:xfrm rot="0" flipH="0" flipV="0">
            <a:off x="8353425" y="3028950"/>
            <a:ext cx="3152775" cy="1038225"/>
          </a:xfrm>
          <a:prstGeom prst="roundRect">
            <a:avLst>
              <a:gd name="adj" fmla="val 11009"/>
            </a:avLst>
          </a:prstGeom>
          <a:solidFill>
            <a:srgbClr val="FFFFFF"/>
          </a:solidFill>
          <a:ln w="12700">
            <a:solidFill>
              <a:srgbClr val="0E1B2E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8524875" y="318135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E1B2E"/>
                </a:solidFill>
                <a:latin typeface="Microsoft YaHei"/>
                <a:ea typeface="Microsoft YaHei"/>
              </a:rPr>
              <a:t>年报原文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10868025" y="3181350"/>
            <a:ext cx="466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C8A24A"/>
                </a:solidFill>
                <a:latin typeface="Consolas"/>
                <a:ea typeface="Consolas"/>
              </a:rPr>
              <a:t>mode=rag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8524875" y="3429000"/>
            <a:ext cx="2809875" cy="2476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38">
                <a:solidFill>
                  <a:srgbClr val="0E1B2E">
                    <a:alpha val="58000"/>
                  </a:srgbClr>
                </a:solidFill>
                <a:latin typeface="Microsoft YaHei"/>
                <a:ea typeface="Microsoft YaHei"/>
              </a:rPr>
              <a:t>强制检索。适合要原文表述、要页码的场景。</a:t>
            </a:r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685800" y="4276725"/>
            <a:ext cx="28575" cy="304800"/>
          </a:xfrm>
          <a:prstGeom prst="rect">
            <a:avLst/>
          </a:prstGeom>
          <a:solidFill>
            <a:srgbClr val="C8A24A"/>
          </a:solidFill>
          <a:ln/>
        </p:spPr>
        <p:txBody>
          <a:bodyPr/>
          <a:p/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828675" y="4305300"/>
            <a:ext cx="5800725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0E1B2E">
                    <a:alpha val="62000"/>
                  </a:srgbClr>
                </a:solidFill>
                <a:latin typeface="Microsoft YaHei"/>
                <a:ea typeface="Microsoft YaHei"/>
              </a:rPr>
              <a:t>三条链路共用同一套数据与召回，区别只在「谁被强制」——</a:t>
            </a:r>
            <a:r>
              <a:rPr lang="en-US" sz="1050">
                <a:solidFill>
                  <a:srgbClr val="0E1B2E">
                    <a:alpha val="62000"/>
                  </a:srgbClr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0E1B2E">
                    <a:alpha val="62000"/>
                  </a:srgbClr>
                </a:solidFill>
                <a:latin typeface="Microsoft YaHei"/>
                <a:ea typeface="Microsoft YaHei"/>
              </a:rPr>
              <a:t>所以错一次路由，整套答案都会偏。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685800" y="6543675"/>
            <a:ext cx="14573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0E1B2E">
                    <a:alpha val="34000"/>
                  </a:srgbClr>
                </a:solidFill>
                <a:latin typeface="Microsoft YaHei"/>
                <a:ea typeface="Microsoft YaHei"/>
              </a:rPr>
              <a:t>FinSight · </a:t>
            </a:r>
            <a:r>
              <a:rPr lang="zh-CN" sz="900">
                <a:solidFill>
                  <a:srgbClr val="0E1B2E">
                    <a:alpha val="34000"/>
                  </a:srgbClr>
                </a:solidFill>
                <a:latin typeface="Microsoft YaHei"/>
                <a:ea typeface="Microsoft YaHei"/>
              </a:rPr>
              <a:t>白酒行业智能投研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11058525" y="6543675"/>
            <a:ext cx="447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0E1B2E">
                    <a:alpha val="34000"/>
                  </a:srgbClr>
                </a:solidFill>
                <a:latin typeface="Consolas"/>
                <a:ea typeface="Consolas"/>
              </a:rPr>
              <a:t>05 / 12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16" name="" descr="&lt;Slide style={{&#10;    width: 1280,&#10;    height: 720,&#10;    background: 'linear-gradient(135deg, #0E1B2E 0%, #152b4d 58%, #1d3f6e 100%)',&#10;    position: 'relative',&#10;    overflow: 'hidden',&#10;    flexDirection: 'column',&#10;    padding: '52px 72px 18px',&#10;}}&gt;&#10;    &lt;svg width={1280} height={720} viewBox='0 0 1280 720' style={{ position: 'absolute', top: 0, left: 0, opacity: 0.3 }}&gt;&#10;        &lt;g stroke='#C8A24A' strokeWidth='1' fill='none' opacity='0.4'&gt;&#10;            &lt;path d='M 0 120 L 1280 40' /&gt;&#10;            &lt;path d='M 0 200 L 1280 120' /&gt;&#10;            &lt;path d='M 0 280 L 1280 200' /&gt;&#10;            &lt;path d='M 640 0 L 640 720' opacity='0.16' /&gt;&#10;        &lt;/g&gt;&#10;    &lt;/svg&gt;&#10;&#10;    &lt;Box style={{ position: 'relative', zIndex: 2, flexDirection: 'row', alignItems: 'flex-end', gap: 56, marginTop: 64 }}&gt;&#10;        &lt;Box style={{ flex: 1.25, flexDirection: 'column' }}&gt;&#10;            &lt;Text style={{ fontSize: 11, letterSpacing: 4, color: '#C8A24A', fontWeight: 'bold' }}&gt;&#10;                MILVUS · 年报向量库&#10;            &lt;/Text&gt;&#10;            &lt;Text style={{ fontSize: 108, fontWeight: 'bold', color: '#C8A24A', fontFamily: 'Consolas', lineHeight: 1, marginTop: 12 }}&gt;&#10;                24,235&#10;            &lt;/Text&gt;&#10;            &lt;Text style={{ fontSize: 17, color: 'rgba(245,241,232,0.78)', marginTop: 16 }}&gt;&#10;                条子块向量　·　20 家公司 × 2023–2025&#10;            &lt;/Text&gt;&#10;        &lt;/Box&gt;&#10;&#10;        &lt;Box style={{ flex: 1, flexDirection: 'column', gap: 22, paddingBottom: 6 }}&gt;&#10;            &lt;Box style={{ flexDirection: 'column', borderLeft: '2px solid rgba(200,162,74,0.42)', paddingLeft: 18 }}&gt;&#10;                &lt;Text style={{ fontSize: 34, fontWeight: 'bold', color: '#F5F1E8', fontFamily: 'Consolas', lineHeight: 1.1 }}&gt;60&lt;/Text&gt;&#10;                &lt;Text style={{ fontSize: 13, color: 'rgba(245,241,232,0.55)', marginTop: 4 }}&gt;份年报 · 11,001 页&lt;/Text&gt;&#10;            &lt;/Box&gt;&#10;            &lt;Box style={{ flexDirection: 'column', borderLeft: '2px solid rgba(200,162,74,0.42)', paddingLeft: 18 }}&gt;&#10;                &lt;Text style={{ fontSize: 34, fontWeight: 'bold', color: '#F5F1E8', fontFamily: 'Consolas', lineHeight: 1.1 }}&gt;34,572&lt;/Text&gt;&#10;                &lt;Text style={{ fontSize: 13, color: 'rgba(245,241,232,0.55)', marginTop: 4 }}&gt;个父子块 · 6593 父 / 34572 子&lt;/Text&gt;&#10;            &lt;/Box&gt;&#10;            &lt;Box style={{ flexDirection: 'column', borderLeft: '2px solid rgba(200,162,74,0.42)', paddingLeft: 18 }}&gt;&#10;                &lt;Text style={{ fontSize: 34, fontWeight: 'bold', color: '#F5F1E8', fontFamily: 'Consolas', lineHeight: 1.1 }}&gt;186&lt;/Text&gt;&#10;                &lt;Text style={{ fontSize: 13, color: 'rgba(245,241,232,0.55)', marginTop: 4 }}&gt;行十大股东 · 60 行财务指标&lt;/Text&gt;&#10;            &lt;/Box&gt;&#10;        &lt;/Box&gt;&#10;    &lt;/Box&gt;&#10;&#10;    &lt;Box style={{ position: 'relative', zIndex: 2, flexDirection: 'row', gap: 18, marginTop: 'auto', marginBottom: 46 }}&gt;&#10;        &lt;Box style={{ width: 4, background: '#C8A24A', borderRadius: 2 }} /&gt;&#10;        &lt;Box style={{ flexDirection: 'column' }}&gt;&#10;            &lt;Text style={{ fontSize: 16, color: 'rgba(245,241,232,0.88)', lineHeight: 1.7 }}&gt;&#10;                财务报告章节的 &lt;span style={{ color: '#C8A24A', fontWeight: 'bold' }}&gt;10,337 个子块被故意排除&lt;/span&gt;在向量库外。&#10;            &lt;/Text&gt;&#10;            &lt;Text style={{ fontSize: 14, color: 'rgba(245,241,232,0.5)', marginTop: 6, lineHeight: 1.7 }}&gt;&#10;                报表数字切碎后检索反而更不准 —— 指标类问题交给 MySQL 精确计算，向量库只负责&quot;原文怎么说&quot;。&#10;            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E1B2E"/>
              </a:gs>
              <a:gs pos="58000">
                <a:srgbClr val="152B4D"/>
              </a:gs>
              <a:gs pos="100000">
                <a:srgbClr val="1D3F6E"/>
              </a:gs>
            </a:gsLst>
            <a:lin ang="2700000" scaled="1"/>
          </a:gradFill>
          <a:ln/>
        </p:spPr>
        <p:txBody>
          <a:bodyPr/>
          <a:p/>
        </p:txBody>
      </p:sp>
      <p:pic>
        <p:nvPicPr>
          <p:cNvPr id="218" name=""/>
          <p:cNvPicPr>
            <a:picLocks noChangeAspect="1"/>
          </p:cNvPicPr>
          <p:nvPr/>
        </p:nvPicPr>
        <p:blipFill>
          <a:blip>
            <a:alphaModFix amt="30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685800" y="1600200"/>
            <a:ext cx="57150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 spc="300">
                <a:solidFill>
                  <a:srgbClr val="C8A24A"/>
                </a:solidFill>
                <a:latin typeface="Microsoft YaHei"/>
                <a:ea typeface="Microsoft YaHei"/>
              </a:rPr>
              <a:t>MILVUS · </a:t>
            </a:r>
            <a:r>
              <a:rPr lang="zh-CN" sz="825" b="1" spc="300">
                <a:solidFill>
                  <a:srgbClr val="C8A24A"/>
                </a:solidFill>
                <a:latin typeface="Microsoft YaHei"/>
                <a:ea typeface="Microsoft YaHei"/>
              </a:rPr>
              <a:t>年报向量库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685800" y="1847850"/>
            <a:ext cx="5715000" cy="1238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100" b="1">
                <a:solidFill>
                  <a:srgbClr val="C8A24A"/>
                </a:solidFill>
                <a:latin typeface="Consolas"/>
                <a:ea typeface="Consolas"/>
              </a:rPr>
              <a:t>24,235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685800" y="3238500"/>
            <a:ext cx="5715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F5F1E8">
                    <a:alpha val="78000"/>
                  </a:srgbClr>
                </a:solidFill>
                <a:latin typeface="Microsoft YaHei"/>
                <a:ea typeface="Microsoft YaHei"/>
              </a:rPr>
              <a:t>条子块向量　·　</a:t>
            </a:r>
            <a:r>
              <a:rPr lang="en-US" sz="1275">
                <a:solidFill>
                  <a:srgbClr val="F5F1E8">
                    <a:alpha val="78000"/>
                  </a:srgbClr>
                </a:solidFill>
                <a:latin typeface="Microsoft YaHei"/>
                <a:ea typeface="Microsoft YaHei"/>
              </a:rPr>
              <a:t>20 </a:t>
            </a:r>
            <a:r>
              <a:rPr lang="zh-CN" sz="1275">
                <a:solidFill>
                  <a:srgbClr val="F5F1E8">
                    <a:alpha val="78000"/>
                  </a:srgbClr>
                </a:solidFill>
                <a:latin typeface="Microsoft YaHei"/>
                <a:ea typeface="Microsoft YaHei"/>
              </a:rPr>
              <a:t>家公司</a:t>
            </a:r>
            <a:r>
              <a:rPr lang="en-US" sz="1275">
                <a:solidFill>
                  <a:srgbClr val="F5F1E8">
                    <a:alpha val="78000"/>
                  </a:srgbClr>
                </a:solidFill>
                <a:latin typeface="Microsoft YaHei"/>
                <a:ea typeface="Microsoft YaHei"/>
              </a:rPr>
              <a:t> × 2023–2025</a:t>
            </a:r>
            <a:endParaRPr/>
          </a:p>
        </p:txBody>
      </p:sp>
      <p:sp>
        <p:nvSpPr>
          <p:cNvPr id="222" name=""/>
          <p:cNvSpPr/>
          <p:nvPr/>
        </p:nvSpPr>
        <p:spPr>
          <a:xfrm rot="0" flipH="0" flipV="0">
            <a:off x="6934200" y="1104900"/>
            <a:ext cx="4591050" cy="619125"/>
          </a:xfrm>
          <a:custGeom>
            <a:pathLst>
              <a:path w="482" h="65">
                <a:moveTo>
                  <a:pt x="0" y="0"/>
                </a:moveTo>
                <a:lnTo>
                  <a:pt x="2" y="0"/>
                </a:lnTo>
                <a:lnTo>
                  <a:pt x="2" y="65"/>
                </a:lnTo>
                <a:lnTo>
                  <a:pt x="0" y="65"/>
                </a:lnTo>
                <a:close/>
              </a:path>
            </a:pathLst>
          </a:custGeom>
          <a:solidFill>
            <a:srgbClr val="C8A24A">
              <a:alpha val="42000"/>
            </a:srgbClr>
          </a:solidFill>
          <a:ln/>
        </p:spPr>
        <p:txBody>
          <a:bodyPr/>
          <a:p/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7124700" y="1104900"/>
            <a:ext cx="4381500" cy="4286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2550" b="1">
                <a:solidFill>
                  <a:srgbClr val="F5F1E8"/>
                </a:solidFill>
                <a:latin typeface="Consolas"/>
                <a:ea typeface="Consolas"/>
              </a:rPr>
              <a:t>60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7124700" y="1571625"/>
            <a:ext cx="4381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5F1E8">
                    <a:alpha val="55000"/>
                  </a:srgbClr>
                </a:solidFill>
                <a:latin typeface="Microsoft YaHei"/>
                <a:ea typeface="Microsoft YaHei"/>
              </a:rPr>
              <a:t>份年报</a:t>
            </a:r>
            <a:r>
              <a:rPr lang="en-US" sz="975">
                <a:solidFill>
                  <a:srgbClr val="F5F1E8">
                    <a:alpha val="55000"/>
                  </a:srgbClr>
                </a:solidFill>
                <a:latin typeface="Microsoft YaHei"/>
                <a:ea typeface="Microsoft YaHei"/>
              </a:rPr>
              <a:t> · 11,001 </a:t>
            </a:r>
            <a:r>
              <a:rPr lang="zh-CN" sz="975">
                <a:solidFill>
                  <a:srgbClr val="F5F1E8">
                    <a:alpha val="55000"/>
                  </a:srgbClr>
                </a:solidFill>
                <a:latin typeface="Microsoft YaHei"/>
                <a:ea typeface="Microsoft YaHei"/>
              </a:rPr>
              <a:t>页</a:t>
            </a:r>
            <a:endParaRPr/>
          </a:p>
        </p:txBody>
      </p:sp>
      <p:sp>
        <p:nvSpPr>
          <p:cNvPr id="225" name=""/>
          <p:cNvSpPr/>
          <p:nvPr/>
        </p:nvSpPr>
        <p:spPr>
          <a:xfrm rot="0" flipH="0" flipV="0">
            <a:off x="6934200" y="1933575"/>
            <a:ext cx="4591050" cy="619125"/>
          </a:xfrm>
          <a:custGeom>
            <a:pathLst>
              <a:path w="482" h="65">
                <a:moveTo>
                  <a:pt x="0" y="0"/>
                </a:moveTo>
                <a:lnTo>
                  <a:pt x="2" y="0"/>
                </a:lnTo>
                <a:lnTo>
                  <a:pt x="2" y="65"/>
                </a:lnTo>
                <a:lnTo>
                  <a:pt x="0" y="65"/>
                </a:lnTo>
                <a:close/>
              </a:path>
            </a:pathLst>
          </a:custGeom>
          <a:solidFill>
            <a:srgbClr val="C8A24A">
              <a:alpha val="42000"/>
            </a:srgbClr>
          </a:solidFill>
          <a:ln/>
        </p:spPr>
        <p:txBody>
          <a:bodyPr/>
          <a:p/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7124700" y="1933575"/>
            <a:ext cx="4381500" cy="4286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2550" b="1">
                <a:solidFill>
                  <a:srgbClr val="F5F1E8"/>
                </a:solidFill>
                <a:latin typeface="Consolas"/>
                <a:ea typeface="Consolas"/>
              </a:rPr>
              <a:t>34,572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7124700" y="2400300"/>
            <a:ext cx="4381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5F1E8">
                    <a:alpha val="55000"/>
                  </a:srgbClr>
                </a:solidFill>
                <a:latin typeface="Microsoft YaHei"/>
                <a:ea typeface="Microsoft YaHei"/>
              </a:rPr>
              <a:t>个父子块</a:t>
            </a:r>
            <a:r>
              <a:rPr lang="en-US" sz="975">
                <a:solidFill>
                  <a:srgbClr val="F5F1E8">
                    <a:alpha val="55000"/>
                  </a:srgbClr>
                </a:solidFill>
                <a:latin typeface="Microsoft YaHei"/>
                <a:ea typeface="Microsoft YaHei"/>
              </a:rPr>
              <a:t> · 6593 </a:t>
            </a:r>
            <a:r>
              <a:rPr lang="zh-CN" sz="975">
                <a:solidFill>
                  <a:srgbClr val="F5F1E8">
                    <a:alpha val="55000"/>
                  </a:srgbClr>
                </a:solidFill>
                <a:latin typeface="Microsoft YaHei"/>
                <a:ea typeface="Microsoft YaHei"/>
              </a:rPr>
              <a:t>父</a:t>
            </a:r>
            <a:r>
              <a:rPr lang="en-US" sz="975">
                <a:solidFill>
                  <a:srgbClr val="F5F1E8">
                    <a:alpha val="55000"/>
                  </a:srgbClr>
                </a:solidFill>
                <a:latin typeface="Microsoft YaHei"/>
                <a:ea typeface="Microsoft YaHei"/>
              </a:rPr>
              <a:t> / 34572 </a:t>
            </a:r>
            <a:r>
              <a:rPr lang="zh-CN" sz="975">
                <a:solidFill>
                  <a:srgbClr val="F5F1E8">
                    <a:alpha val="55000"/>
                  </a:srgbClr>
                </a:solidFill>
                <a:latin typeface="Microsoft YaHei"/>
                <a:ea typeface="Microsoft YaHei"/>
              </a:rPr>
              <a:t>子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6934200" y="2762250"/>
            <a:ext cx="4591050" cy="619125"/>
          </a:xfrm>
          <a:custGeom>
            <a:pathLst>
              <a:path w="482" h="65">
                <a:moveTo>
                  <a:pt x="0" y="0"/>
                </a:moveTo>
                <a:lnTo>
                  <a:pt x="2" y="0"/>
                </a:lnTo>
                <a:lnTo>
                  <a:pt x="2" y="65"/>
                </a:lnTo>
                <a:lnTo>
                  <a:pt x="0" y="65"/>
                </a:lnTo>
                <a:close/>
              </a:path>
            </a:pathLst>
          </a:custGeom>
          <a:solidFill>
            <a:srgbClr val="C8A24A">
              <a:alpha val="42000"/>
            </a:srgbClr>
          </a:solidFill>
          <a:ln/>
        </p:spPr>
        <p:txBody>
          <a:bodyPr/>
          <a:p/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7124700" y="2762250"/>
            <a:ext cx="4381500" cy="4286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2550" b="1">
                <a:solidFill>
                  <a:srgbClr val="F5F1E8"/>
                </a:solidFill>
                <a:latin typeface="Consolas"/>
                <a:ea typeface="Consolas"/>
              </a:rPr>
              <a:t>186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7124700" y="3228975"/>
            <a:ext cx="4381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5F1E8">
                    <a:alpha val="55000"/>
                  </a:srgbClr>
                </a:solidFill>
                <a:latin typeface="Microsoft YaHei"/>
                <a:ea typeface="Microsoft YaHei"/>
              </a:rPr>
              <a:t>行十大股东</a:t>
            </a:r>
            <a:r>
              <a:rPr lang="en-US" sz="975">
                <a:solidFill>
                  <a:srgbClr val="F5F1E8">
                    <a:alpha val="55000"/>
                  </a:srgbClr>
                </a:solidFill>
                <a:latin typeface="Microsoft YaHei"/>
                <a:ea typeface="Microsoft YaHei"/>
              </a:rPr>
              <a:t> · 60 </a:t>
            </a:r>
            <a:r>
              <a:rPr lang="zh-CN" sz="975">
                <a:solidFill>
                  <a:srgbClr val="F5F1E8">
                    <a:alpha val="55000"/>
                  </a:srgbClr>
                </a:solidFill>
                <a:latin typeface="Microsoft YaHei"/>
                <a:ea typeface="Microsoft YaHei"/>
              </a:rPr>
              <a:t>行财务指标</a:t>
            </a:r>
            <a:endParaRPr/>
          </a:p>
        </p:txBody>
      </p:sp>
      <p:sp>
        <p:nvSpPr>
          <p:cNvPr id="231" name=""/>
          <p:cNvSpPr/>
          <p:nvPr/>
        </p:nvSpPr>
        <p:spPr>
          <a:xfrm rot="0" flipH="0" flipV="0">
            <a:off x="685800" y="5600700"/>
            <a:ext cx="38100" cy="647700"/>
          </a:xfrm>
          <a:prstGeom prst="roundRect">
            <a:avLst>
              <a:gd name="adj" fmla="val 50000"/>
            </a:avLst>
          </a:prstGeom>
          <a:solidFill>
            <a:srgbClr val="C8A24A"/>
          </a:solidFill>
          <a:ln/>
        </p:spPr>
        <p:txBody>
          <a:bodyPr/>
          <a:p/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895350" y="5600700"/>
            <a:ext cx="6086475" cy="3143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>
                <a:solidFill>
                  <a:srgbClr val="F5F1E8">
                    <a:alpha val="88000"/>
                  </a:srgbClr>
                </a:solidFill>
                <a:latin typeface="Microsoft YaHei"/>
                <a:ea typeface="Microsoft YaHei"/>
              </a:rPr>
              <a:t>财务报告章节的</a:t>
            </a:r>
            <a:r>
              <a:rPr lang="en-US" sz="1200">
                <a:solidFill>
                  <a:srgbClr val="F5F1E8">
                    <a:alpha val="88000"/>
                  </a:srgbClr>
                </a:solidFill>
                <a:latin typeface="Microsoft YaHei"/>
                <a:ea typeface="Microsoft YaHei"/>
              </a:rPr>
              <a:t> </a:t>
            </a:r>
            <a:r>
              <a:rPr lang="en-US" sz="1200" b="1">
                <a:solidFill>
                  <a:srgbClr val="C8A24A"/>
                </a:solidFill>
                <a:latin typeface="Microsoft YaHei"/>
                <a:ea typeface="Microsoft YaHei"/>
              </a:rPr>
              <a:t>10,337 </a:t>
            </a:r>
            <a:r>
              <a:rPr lang="zh-CN" sz="1200" b="1">
                <a:solidFill>
                  <a:srgbClr val="C8A24A"/>
                </a:solidFill>
                <a:latin typeface="Microsoft YaHei"/>
                <a:ea typeface="Microsoft YaHei"/>
              </a:rPr>
              <a:t>个子块被故意排除</a:t>
            </a:r>
            <a:r>
              <a:rPr lang="zh-CN" sz="1200">
                <a:solidFill>
                  <a:srgbClr val="F5F1E8">
                    <a:alpha val="88000"/>
                  </a:srgbClr>
                </a:solidFill>
                <a:latin typeface="Microsoft YaHei"/>
                <a:ea typeface="Microsoft YaHei"/>
              </a:rPr>
              <a:t>在向量库外。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895350" y="5972175"/>
            <a:ext cx="6086475" cy="2762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F5F1E8">
                    <a:alpha val="50000"/>
                  </a:srgbClr>
                </a:solidFill>
                <a:latin typeface="Microsoft YaHei"/>
                <a:ea typeface="Microsoft YaHei"/>
              </a:rPr>
              <a:t>报表数字切碎后检索反而更不准</a:t>
            </a:r>
            <a:r>
              <a:rPr lang="en-US" sz="1050">
                <a:solidFill>
                  <a:srgbClr val="F5F1E8">
                    <a:alpha val="50000"/>
                  </a:srgbClr>
                </a:solidFill>
                <a:latin typeface="Microsoft YaHei"/>
                <a:ea typeface="Microsoft YaHei"/>
              </a:rPr>
              <a:t> —— </a:t>
            </a:r>
            <a:r>
              <a:rPr lang="zh-CN" sz="1050">
                <a:solidFill>
                  <a:srgbClr val="F5F1E8">
                    <a:alpha val="50000"/>
                  </a:srgbClr>
                </a:solidFill>
                <a:latin typeface="Microsoft YaHei"/>
                <a:ea typeface="Microsoft YaHei"/>
              </a:rPr>
              <a:t>指标类问题交给</a:t>
            </a:r>
            <a:r>
              <a:rPr lang="en-US" sz="1050">
                <a:solidFill>
                  <a:srgbClr val="F5F1E8">
                    <a:alpha val="50000"/>
                  </a:srgbClr>
                </a:solidFill>
                <a:latin typeface="Microsoft YaHei"/>
                <a:ea typeface="Microsoft YaHei"/>
              </a:rPr>
              <a:t> MySQL </a:t>
            </a:r>
            <a:r>
              <a:rPr lang="zh-CN" sz="1050">
                <a:solidFill>
                  <a:srgbClr val="F5F1E8">
                    <a:alpha val="50000"/>
                  </a:srgbClr>
                </a:solidFill>
                <a:latin typeface="Microsoft YaHei"/>
                <a:ea typeface="Microsoft YaHei"/>
              </a:rPr>
              <a:t>精确计算，向量库只负责</a:t>
            </a:r>
            <a:r>
              <a:rPr lang="en-US" sz="1050">
                <a:solidFill>
                  <a:srgbClr val="F5F1E8">
                    <a:alpha val="50000"/>
                  </a:srgbClr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F5F1E8">
                    <a:alpha val="50000"/>
                  </a:srgbClr>
                </a:solidFill>
                <a:latin typeface="Microsoft YaHei"/>
                <a:ea typeface="Microsoft YaHei"/>
              </a:rPr>
              <a:t>原文怎么说</a:t>
            </a:r>
            <a:r>
              <a:rPr lang="en-US" sz="1050">
                <a:solidFill>
                  <a:srgbClr val="F5F1E8">
                    <a:alpha val="50000"/>
                  </a:srgbClr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F5F1E8">
                    <a:alpha val="50000"/>
                  </a:srgbClr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34" name="" descr="&lt;Slide style={{&#10;    width: 1280,&#10;    height: 720,&#10;    background: 'linear-gradient(122deg, #0E1B2E 0%, #182d50 52%, #2a4f86 100%)',&#10;    position: 'relative',&#10;    overflow: 'hidden',&#10;    flexDirection: 'column',&#10;    justifyContent: 'center',&#10;    paddingLeft: 112,&#10;}}&gt;&#10;    &lt;svg width={1280} height={720} viewBox='0 0 1280 720' style={{ position: 'absolute', top: 0, left: 0, opacity: 0.38 }}&gt;&#10;        &lt;g stroke='#C8A24A' strokeWidth='1' fill='none' opacity='0.46'&gt;&#10;            &lt;path d='M 700 0 L 700 720' opacity='0.2' /&gt;&#10;            &lt;path d='M 812 0 L 812 720' opacity='0.14' /&gt;&#10;            &lt;path d='M 924 0 L 924 720' opacity='0.1' /&gt;&#10;            &lt;path d='M 0 96 L 1280 0' /&gt;&#10;            &lt;path d='M 0 168 L 1280 72' opacity='0.6' /&gt;&#10;            &lt;path d='M 0 240 L 1280 144' opacity='0.35' /&gt;&#10;        &lt;/g&gt;&#10;        &lt;g fill='#C8A24A'&gt;&#10;            &lt;circle cx='700' cy='168' r='4' opacity='0.8' /&gt;&#10;            &lt;circle cx='924' cy='240' r='3' opacity='0.55' /&gt;&#10;            &lt;circle cx='812' cy='96' r='3.4' opacity='0.65' /&gt;&#10;        &lt;/g&gt;&#10;    &lt;/svg&gt;&#10;&#10;    &lt;Box style={{ position: 'relative', zIndex: 2, flexDirection: 'column', width: 880 }}&gt;&#10;        &lt;Text style={{ fontSize: 100, fontWeight: 'bold', color: '#C8A24A', fontFamily: 'Consolas', lineHeight: 1, opacity: 0.92 }}&gt;&#10;            02&#10;        &lt;/Text&gt;&#10;        &lt;Text style={{ fontSize: 60, fontWeight: 'bold', color: '#F5F1E8', marginTop: 26, lineHeight: 1.18 }}&gt;&#10;            让它准起来，也让它说实话&#10;        &lt;/Text&gt;&#10;        &lt;Box style={{ width: 72, height: 3, background: '#C8A24A', marginTop: 30 }} /&gt;&#10;        &lt;Text style={{ fontSize: 21, color: 'rgba(245,241,232,0.66)', marginTop: 28, lineHeight: 1.6 }}&gt;&#10;            检索怎么补、SQL 怎么管、效果怎么量，以及四次返工。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E1B2E"/>
              </a:gs>
              <a:gs pos="52000">
                <a:srgbClr val="182D50"/>
              </a:gs>
              <a:gs pos="100000">
                <a:srgbClr val="2A4F86"/>
              </a:gs>
            </a:gsLst>
            <a:lin ang="1920000" scaled="1"/>
          </a:gradFill>
          <a:ln/>
        </p:spPr>
        <p:txBody>
          <a:bodyPr/>
          <a:p/>
        </p:txBody>
      </p:sp>
      <p:pic>
        <p:nvPicPr>
          <p:cNvPr id="236" name=""/>
          <p:cNvPicPr>
            <a:picLocks noChangeAspect="1"/>
          </p:cNvPicPr>
          <p:nvPr/>
        </p:nvPicPr>
        <p:blipFill>
          <a:blip>
            <a:alphaModFix amt="38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1066800" y="3238500"/>
            <a:ext cx="8382000" cy="809625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zh-CN" sz="4500" b="1">
                <a:solidFill>
                  <a:srgbClr val="F5F1E8"/>
                </a:solidFill>
                <a:latin typeface="Microsoft YaHei"/>
                <a:ea typeface="Microsoft YaHei"/>
              </a:rPr>
              <a:t>让它准起来，也让它说实话</a:t>
            </a:r>
            <a:endParaRPr/>
          </a:p>
        </p:txBody>
      </p:sp>
      <p:sp>
        <p:nvSpPr>
          <p:cNvPr id="238" name=""/>
          <p:cNvSpPr/>
          <p:nvPr/>
        </p:nvSpPr>
        <p:spPr>
          <a:xfrm rot="0" flipH="0" flipV="0">
            <a:off x="1066800" y="4333875"/>
            <a:ext cx="685800" cy="28575"/>
          </a:xfrm>
          <a:prstGeom prst="rect">
            <a:avLst/>
          </a:prstGeom>
          <a:solidFill>
            <a:srgbClr val="C8A24A"/>
          </a:solidFill>
          <a:ln/>
        </p:spPr>
        <p:txBody>
          <a:bodyPr/>
          <a:p/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1066800" y="4629150"/>
            <a:ext cx="8382000" cy="3905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75">
                <a:solidFill>
                  <a:srgbClr val="F5F1E8">
                    <a:alpha val="66000"/>
                  </a:srgbClr>
                </a:solidFill>
                <a:latin typeface="Microsoft YaHei"/>
                <a:ea typeface="Microsoft YaHei"/>
              </a:rPr>
              <a:t>检索怎么补、</a:t>
            </a:r>
            <a:r>
              <a:rPr lang="en-US" sz="1575">
                <a:solidFill>
                  <a:srgbClr val="F5F1E8">
                    <a:alpha val="66000"/>
                  </a:srgbClr>
                </a:solidFill>
                <a:latin typeface="Microsoft YaHei"/>
                <a:ea typeface="Microsoft YaHei"/>
              </a:rPr>
              <a:t>SQL </a:t>
            </a:r>
            <a:r>
              <a:rPr lang="zh-CN" sz="1575">
                <a:solidFill>
                  <a:srgbClr val="F5F1E8">
                    <a:alpha val="66000"/>
                  </a:srgbClr>
                </a:solidFill>
                <a:latin typeface="Microsoft YaHei"/>
                <a:ea typeface="Microsoft YaHei"/>
              </a:rPr>
              <a:t>怎么管、效果怎么量，以及四次返工。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1066800" y="1847850"/>
            <a:ext cx="8382000" cy="1143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0" b="1">
                <a:solidFill>
                  <a:srgbClr val="C8A24A">
                    <a:alpha val="92000"/>
                  </a:srgbClr>
                </a:solidFill>
                <a:latin typeface="Consolas"/>
                <a:ea typeface="Consolas"/>
              </a:rPr>
              <a:t>02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241" name="" descr="&lt;Slide style={{&#10;    width: 1280,&#10;    height: 720,&#10;    background: '#F5F1E8',&#10;    padding: '30px 72px 18px',&#10;    flexDirection: 'column',&#10;}}&gt;&#10;    &lt;Box style={{ flexDirection: 'row', alignItems: 'flex-end', justifyContent: 'space-between', height: 76 }}&gt;&#10;        &lt;Box style={{ flexDirection: 'column' }}&gt;&#10;            &lt;Text style={{ fontSize: 34, fontWeight: 'bold', color: '#0E1B2E' }}&gt;&#10;                两条腿走路：关键词 + 向量&#10;            &lt;/Text&gt;&#10;            &lt;Text style={{ fontSize: 15, color: 'rgba(14,27,46,0.55)', marginTop: 8 }}&gt;&#10;                「渠道库存」这种词，纯向量抓不住&#10;            &lt;/Text&gt;&#10;        &lt;/Box&gt;&#10;        &lt;Text style={{ fontSize: 12, color: 'rgba(14,27,46,0.34)', letterSpacing: 2 }}&gt;&#10;            03 / 检索链路&#10;        &lt;/Text&gt;&#10;    &lt;/Box&gt;&#10;&#10;    &lt;Box style={{ flexDirection: 'row', gap: 44, marginTop: 24, flex: 1 }}&gt;&#10;        &lt;Box style={{ width: 636, flexDirection: 'column' }}&gt;&#10;            &lt;Box style={{ background: '#FFFFFF', borderRadius: 10, padding: '13px 18px', border: '1px solid rgba(14,27,46,0.10)', alignItems: 'center' }}&gt;&#10;                &lt;Text style={{ fontSize: 14, color: '#0E1B2E', fontWeight: 'bold' }}&gt;问句：茅台 2025 年提到了哪些经营风险？&lt;/Text&gt;&#10;            &lt;/Box&gt;&#10;&#10;            &lt;Box style={{ height: 26, alignItems: 'center' }}&gt;&lt;Text style={{ fontSize: 14, color: 'rgba(14,27,46,0.30)' }}&gt;↓&lt;/Text&gt;&lt;/Box&gt;&#10;&#10;            &lt;Box style={{ flexDirection: 'row', gap: 16 }}&gt;&#10;                &lt;Box style={{ flex: 1, background: 'rgba(47,93,158,0.07)', borderRadius: 10, padding: '14px 16px', border: '1px solid rgba(47,93,158,0.20)', flexDirection: 'column' }}&gt;&#10;                    &lt;Text style={{ fontSize: 10.5, letterSpacing: 2, color: '#2F5D9E', fontWeight: 'bold' }}&gt;SPARSE&lt;/Text&gt;&#10;                    &lt;Text style={{ fontSize: 15, fontWeight: 'bold', color: '#0E1B2E', marginTop: 8 }}&gt;BM25 关键词&lt;/Text&gt;&#10;                    &lt;Text style={{ fontSize: 12, color: 'rgba(14,27,46,0.55)', marginTop: 6, lineHeight: 1.6 }}&gt;&#10;                        jieba 分词 · 问句词过滤&lt;br /&gt;抓术语、抓专有名词&#10;                    &lt;/Text&gt;&#10;                &lt;/Box&gt;&#10;                &lt;Box style={{ flex: 1, background: 'rgba(14,27,46,0.05)', borderRadius: 10, padding: '14px 16px', border: '1px solid rgba(14,27,46,0.10)', flexDirection: 'column' }}&gt;&#10;                    &lt;Text style={{ fontSize: 10.5, letterSpacing: 2, color: 'rgba(14,27,46,0.45)', fontWeight: 'bold' }}&gt;DENSE&lt;/Text&gt;&#10;                    &lt;Text style={{ fontSize: 15, fontWeight: 'bold', color: '#0E1B2E', marginTop: 8 }}&gt;Milvus 向量&lt;/Text&gt;&#10;                    &lt;Text style={{ fontSize: 12, color: 'rgba(14,27,46,0.55)', marginTop: 6, lineHeight: 1.6 }}&gt;&#10;                        BGE-M3 稠密 + 稀疏&lt;br /&gt;抓语义相近表述&#10;                    &lt;/Text&gt;&#10;                &lt;/Box&gt;&#10;            &lt;/Box&gt;&#10;&#10;            &lt;Box style={{ height: 22, alignItems: 'center' }}&gt;&lt;Text style={{ fontSize: 13, color: 'rgba(14,27,46,0.30)' }}&gt;↓&lt;/Text&gt;&lt;/Box&gt;&#10;&#10;            &lt;Box style={{ background: '#0E1B2E', borderRadius: 10, padding: '13px 18px', flexDirection: 'row', alignItems: 'center', justifyContent: 'space-between' }}&gt;&#10;                &lt;Text style={{ fontSize: 14.5, fontWeight: 'bold', color: '#F5F1E8' }}&gt;RRF 融合&lt;/Text&gt;&#10;                &lt;Text style={{ fontSize: 12, color: 'rgba(245,241,232,0.55)' }}&gt;按排名倒数加权，不用调分数阈值&lt;/Text&gt;&#10;            &lt;/Box&gt;&#10;&#10;            &lt;Box style={{ height: 22, alignItems: 'center' }}&gt;&lt;Text style={{ fontSize: 13, color: 'rgba(14,27,46,0.30)' }}&gt;↓&lt;/Text&gt;&lt;/Box&gt;&#10;&#10;            &lt;Box style={{ background: '#FFFFFF', borderRadius: 10, padding: '13px 18px', border: '1px solid rgba(14,27,46,0.10)', flexDirection: 'row', alignItems: 'center', justifyContent: 'space-between' }}&gt;&#10;                &lt;Text style={{ fontSize: 14, fontWeight: 'bold', color: '#0E1B2E' }}&gt;父子块回填&lt;/Text&gt;&#10;                &lt;Text style={{ fontSize: 11.5, color: 'rgba(14,27,46,0.45)' }}&gt;命中子块 → 补全父窗口上下文&lt;/Text&gt;&#10;            &lt;/Box&gt;&#10;        &lt;/Box&gt;&#10;&#10;        &lt;Box style={{ flex: 1, flexDirection: 'column' }}&gt;&#10;            &lt;Box style={{ flexDirection: 'row', alignItems: 'baseline', gap: 10 }}&gt;&#10;                &lt;Text style={{ fontSize: 40, fontWeight: 'bold', color: '#C8A24A', fontFamily: 'Consolas', lineHeight: 1 }}&gt;+5&lt;/Text&gt;&#10;                &lt;Text style={{ fontSize: 13, color: 'rgba(14,27,46,0.55)' }}&gt;个百分点&lt;/Text&gt;&#10;            &lt;/Box&gt;&#10;            &lt;Text style={{ fontSize: 14, color: 'rgba(14,27,46,0.68)', marginTop: 10, lineHeight: 1.7 }}&gt;&#10;                hit@5 从 &lt;span style={{ fontWeight: 'bold', color: '#0E1B2E' }}&gt;90%&lt;/span&gt; 提到 &lt;span style={{ fontWeight: 'bold', color: '#0E1B2E' }}&gt;95%&lt;/span&gt;，MRR 从 0.767 到 0.885。&#10;            &lt;/Text&gt;&#10;&#10;            &lt;Box style={{ height: 1, background: 'rgba(14,27,46,0.10)', margin: '22px 0' }} /&gt;&#10;&#10;            &lt;Box style={{ flexDirection: 'column', gap: 16 }}&gt;&#10;                &lt;Box style={{ flexDirection: 'column' }}&gt;&#10;                    &lt;Text style={{ fontSize: 14.5, fontWeight: 'bold', color: '#0E1B2E' }}&gt;代价是慢三倍&lt;/Text&gt;&#10;                    &lt;Text style={{ fontSize: 13, color: 'rgba(14,27,46,0.58)', marginTop: 5, lineHeight: 1.65 }}&gt;&#10;                        检索延迟 0.53s → 1.44s。多花一秒换 5 个百分点召回，值。&#10;                    &lt;/Text&gt;&#10;                &lt;/Box&gt;&#10;                &lt;Box style={{ flexDirection: 'column' }}&gt;&#10;                    &lt;Text style={{ fontSize: 14.5, fontWeight: 'bold', color: '#0E1B2E' }}&gt;还需要兜底&lt;/Text&gt;&#10;                    &lt;Text style={{ fontSize: 13, color: 'rgba(14,27,46,0.58)', marginTop: 5, lineHeight: 1.65 }}&gt;&#10;                        年报&quot;一页拆多节&quot;会让父窗口落到相邻章节，命中时自动回退用子块文本。&#10;                    &lt;/Text&gt;&#10;                &lt;/Box&gt;&#10;            &lt;/Box&gt;&#10;        &lt;/Box&gt;&#10;    &lt;/Box&gt;&#10;&#10;    &lt;Box style={{ height: 32, flexDirection: 'row', justifyContent: 'space-between', alignItems: 'flex-end' }}&gt;&#10;        &lt;Text style={{ fontSize: 12, color: 'rgba(14,27,46,0.34)' }}&gt;FinSight · 白酒行业智能投研&lt;/Text&gt;&#10;        &lt;Text style={{ fontSize: 12, color: 'rgba(14,27,46,0.34)', fontFamily: 'Consolas' }}&gt;08 / 12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/>
        </p:spPr>
        <p:txBody>
          <a:bodyPr/>
          <a:p/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685800" y="371475"/>
            <a:ext cx="40100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1B2E"/>
                </a:solidFill>
                <a:latin typeface="Microsoft YaHei"/>
                <a:ea typeface="Microsoft YaHei"/>
              </a:rPr>
              <a:t>两条腿走路：关键词</a:t>
            </a:r>
            <a:r>
              <a:rPr lang="en-US" sz="2550" b="1">
                <a:solidFill>
                  <a:srgbClr val="0E1B2E"/>
                </a:solidFill>
                <a:latin typeface="Microsoft YaHei"/>
                <a:ea typeface="Microsoft YaHei"/>
              </a:rPr>
              <a:t> + </a:t>
            </a:r>
            <a:r>
              <a:rPr lang="zh-CN" sz="2550" b="1">
                <a:solidFill>
                  <a:srgbClr val="0E1B2E"/>
                </a:solidFill>
                <a:latin typeface="Microsoft YaHei"/>
                <a:ea typeface="Microsoft YaHei"/>
              </a:rPr>
              <a:t>向量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685800" y="838200"/>
            <a:ext cx="40100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0E1B2E">
                    <a:alpha val="55000"/>
                  </a:srgbClr>
                </a:solidFill>
                <a:latin typeface="Microsoft YaHei"/>
                <a:ea typeface="Microsoft YaHei"/>
              </a:rPr>
              <a:t>「渠道库存」这种词，纯向量抓不住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10620375" y="866775"/>
            <a:ext cx="8858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0E1B2E">
                    <a:alpha val="34000"/>
                  </a:srgbClr>
                </a:solidFill>
                <a:latin typeface="Microsoft YaHei"/>
                <a:ea typeface="Microsoft YaHei"/>
              </a:rPr>
              <a:t>03 / </a:t>
            </a:r>
            <a:r>
              <a:rPr lang="zh-CN" sz="900" spc="150">
                <a:solidFill>
                  <a:srgbClr val="0E1B2E">
                    <a:alpha val="34000"/>
                  </a:srgbClr>
                </a:solidFill>
                <a:latin typeface="Microsoft YaHei"/>
                <a:ea typeface="Microsoft YaHei"/>
              </a:rPr>
              <a:t>检索链路</a:t>
            </a:r>
            <a:endParaRPr/>
          </a:p>
        </p:txBody>
      </p:sp>
      <p:sp>
        <p:nvSpPr>
          <p:cNvPr id="246" name=""/>
          <p:cNvSpPr/>
          <p:nvPr/>
        </p:nvSpPr>
        <p:spPr>
          <a:xfrm rot="0" flipH="0" flipV="0">
            <a:off x="685800" y="1238250"/>
            <a:ext cx="6057900" cy="409575"/>
          </a:xfrm>
          <a:prstGeom prst="roundRect">
            <a:avLst>
              <a:gd name="adj" fmla="val 23256"/>
            </a:avLst>
          </a:prstGeom>
          <a:solidFill>
            <a:srgbClr val="FFFFFF"/>
          </a:solidFill>
          <a:ln w="12700">
            <a:solidFill>
              <a:srgbClr val="0E1B2E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2447925" y="1362075"/>
            <a:ext cx="2543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E1B2E"/>
                </a:solidFill>
                <a:latin typeface="Microsoft YaHei"/>
                <a:ea typeface="Microsoft YaHei"/>
              </a:rPr>
              <a:t>问句：茅台</a:t>
            </a:r>
            <a:r>
              <a:rPr lang="en-US" sz="1050" b="1">
                <a:solidFill>
                  <a:srgbClr val="0E1B2E"/>
                </a:solidFill>
                <a:latin typeface="Microsoft YaHei"/>
                <a:ea typeface="Microsoft YaHei"/>
              </a:rPr>
              <a:t> 2025 </a:t>
            </a:r>
            <a:r>
              <a:rPr lang="zh-CN" sz="1050" b="1">
                <a:solidFill>
                  <a:srgbClr val="0E1B2E"/>
                </a:solidFill>
                <a:latin typeface="Microsoft YaHei"/>
                <a:ea typeface="Microsoft YaHei"/>
              </a:rPr>
              <a:t>年提到了哪些经营风险？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3686175" y="1647825"/>
            <a:ext cx="66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>
                <a:solidFill>
                  <a:srgbClr val="0E1B2E">
                    <a:alpha val="30000"/>
                  </a:srgbClr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249" name=""/>
          <p:cNvSpPr/>
          <p:nvPr/>
        </p:nvSpPr>
        <p:spPr>
          <a:xfrm rot="0" flipH="0" flipV="0">
            <a:off x="685800" y="1895475"/>
            <a:ext cx="2952750" cy="1143000"/>
          </a:xfrm>
          <a:prstGeom prst="roundRect">
            <a:avLst>
              <a:gd name="adj" fmla="val 8333"/>
            </a:avLst>
          </a:prstGeom>
          <a:solidFill>
            <a:srgbClr val="2F5D9E">
              <a:alpha val="7000"/>
            </a:srgbClr>
          </a:solidFill>
          <a:ln w="12700">
            <a:solidFill>
              <a:srgbClr val="2F5D9E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838200" y="2028825"/>
            <a:ext cx="26479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 spc="150">
                <a:solidFill>
                  <a:srgbClr val="2F5D9E"/>
                </a:solidFill>
                <a:latin typeface="Microsoft YaHei"/>
                <a:ea typeface="Microsoft YaHei"/>
              </a:rPr>
              <a:t>SPARSE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838200" y="2228850"/>
            <a:ext cx="2647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E1B2E"/>
                </a:solidFill>
                <a:latin typeface="Microsoft YaHei"/>
                <a:ea typeface="Microsoft YaHei"/>
              </a:rPr>
              <a:t>BM25 </a:t>
            </a:r>
            <a:r>
              <a:rPr lang="zh-CN" sz="1125" b="1">
                <a:solidFill>
                  <a:srgbClr val="0E1B2E"/>
                </a:solidFill>
                <a:latin typeface="Microsoft YaHei"/>
                <a:ea typeface="Microsoft YaHei"/>
              </a:rPr>
              <a:t>关键词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838200" y="2457450"/>
            <a:ext cx="2647950" cy="4476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0E1B2E">
                    <a:alpha val="55000"/>
                  </a:srgbClr>
                </a:solidFill>
                <a:latin typeface="Microsoft YaHei"/>
                <a:ea typeface="Microsoft YaHei"/>
              </a:rPr>
              <a:t>jieba </a:t>
            </a:r>
            <a:r>
              <a:rPr lang="zh-CN" sz="900">
                <a:solidFill>
                  <a:srgbClr val="0E1B2E">
                    <a:alpha val="55000"/>
                  </a:srgbClr>
                </a:solidFill>
                <a:latin typeface="Microsoft YaHei"/>
                <a:ea typeface="Microsoft YaHei"/>
              </a:rPr>
              <a:t>分词</a:t>
            </a:r>
            <a:r>
              <a:rPr lang="en-US" sz="900">
                <a:solidFill>
                  <a:srgbClr val="0E1B2E">
                    <a:alpha val="5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0E1B2E">
                    <a:alpha val="55000"/>
                  </a:srgbClr>
                </a:solidFill>
                <a:latin typeface="Microsoft YaHei"/>
                <a:ea typeface="Microsoft YaHei"/>
              </a:rPr>
              <a:t>问句词过滤</a:t>
            </a:r>
            <a:endParaRPr/>
          </a:p>
          <a:p>
            <a:pPr>
              <a:lnSpc>
                <a:spcPct val="160000"/>
              </a:lnSpc>
            </a:pPr>
            <a:r>
              <a:rPr lang="zh-CN" sz="900">
                <a:solidFill>
                  <a:srgbClr val="0E1B2E">
                    <a:alpha val="55000"/>
                  </a:srgbClr>
                </a:solidFill>
                <a:latin typeface="Microsoft YaHei"/>
                <a:ea typeface="Microsoft YaHei"/>
              </a:rPr>
              <a:t>抓术语、抓专有名词</a:t>
            </a:r>
            <a:endParaRPr/>
          </a:p>
        </p:txBody>
      </p:sp>
      <p:sp>
        <p:nvSpPr>
          <p:cNvPr id="253" name=""/>
          <p:cNvSpPr/>
          <p:nvPr/>
        </p:nvSpPr>
        <p:spPr>
          <a:xfrm rot="0" flipH="0" flipV="0">
            <a:off x="3790950" y="1895475"/>
            <a:ext cx="2952750" cy="1143000"/>
          </a:xfrm>
          <a:prstGeom prst="roundRect">
            <a:avLst>
              <a:gd name="adj" fmla="val 8333"/>
            </a:avLst>
          </a:prstGeom>
          <a:solidFill>
            <a:srgbClr val="0E1B2E">
              <a:alpha val="5000"/>
            </a:srgbClr>
          </a:solidFill>
          <a:ln w="12700">
            <a:solidFill>
              <a:srgbClr val="0E1B2E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3943350" y="2028825"/>
            <a:ext cx="26479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 spc="150">
                <a:solidFill>
                  <a:srgbClr val="0E1B2E">
                    <a:alpha val="45000"/>
                  </a:srgbClr>
                </a:solidFill>
                <a:latin typeface="Microsoft YaHei"/>
                <a:ea typeface="Microsoft YaHei"/>
              </a:rPr>
              <a:t>DENSE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3943350" y="2228850"/>
            <a:ext cx="2647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E1B2E"/>
                </a:solidFill>
                <a:latin typeface="Microsoft YaHei"/>
                <a:ea typeface="Microsoft YaHei"/>
              </a:rPr>
              <a:t>Milvus </a:t>
            </a:r>
            <a:r>
              <a:rPr lang="zh-CN" sz="1125" b="1">
                <a:solidFill>
                  <a:srgbClr val="0E1B2E"/>
                </a:solidFill>
                <a:latin typeface="Microsoft YaHei"/>
                <a:ea typeface="Microsoft YaHei"/>
              </a:rPr>
              <a:t>向量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3943350" y="2457450"/>
            <a:ext cx="2647950" cy="4476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0E1B2E">
                    <a:alpha val="55000"/>
                  </a:srgbClr>
                </a:solidFill>
                <a:latin typeface="Microsoft YaHei"/>
                <a:ea typeface="Microsoft YaHei"/>
              </a:rPr>
              <a:t>BGE-M3 </a:t>
            </a:r>
            <a:r>
              <a:rPr lang="zh-CN" sz="900">
                <a:solidFill>
                  <a:srgbClr val="0E1B2E">
                    <a:alpha val="55000"/>
                  </a:srgbClr>
                </a:solidFill>
                <a:latin typeface="Microsoft YaHei"/>
                <a:ea typeface="Microsoft YaHei"/>
              </a:rPr>
              <a:t>稠密</a:t>
            </a:r>
            <a:r>
              <a:rPr lang="en-US" sz="900">
                <a:solidFill>
                  <a:srgbClr val="0E1B2E">
                    <a:alpha val="55000"/>
                  </a:srgbClr>
                </a:solidFill>
                <a:latin typeface="Microsoft YaHei"/>
                <a:ea typeface="Microsoft YaHei"/>
              </a:rPr>
              <a:t> + </a:t>
            </a:r>
            <a:r>
              <a:rPr lang="zh-CN" sz="900">
                <a:solidFill>
                  <a:srgbClr val="0E1B2E">
                    <a:alpha val="55000"/>
                  </a:srgbClr>
                </a:solidFill>
                <a:latin typeface="Microsoft YaHei"/>
                <a:ea typeface="Microsoft YaHei"/>
              </a:rPr>
              <a:t>稀疏</a:t>
            </a:r>
            <a:endParaRPr/>
          </a:p>
          <a:p>
            <a:pPr>
              <a:lnSpc>
                <a:spcPct val="160000"/>
              </a:lnSpc>
            </a:pPr>
            <a:r>
              <a:rPr lang="zh-CN" sz="900">
                <a:solidFill>
                  <a:srgbClr val="0E1B2E">
                    <a:alpha val="55000"/>
                  </a:srgbClr>
                </a:solidFill>
                <a:latin typeface="Microsoft YaHei"/>
                <a:ea typeface="Microsoft YaHei"/>
              </a:rPr>
              <a:t>抓语义相近表述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3686175" y="3038475"/>
            <a:ext cx="66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>
                <a:solidFill>
                  <a:srgbClr val="0E1B2E">
                    <a:alpha val="30000"/>
                  </a:srgbClr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258" name=""/>
          <p:cNvSpPr/>
          <p:nvPr/>
        </p:nvSpPr>
        <p:spPr>
          <a:xfrm rot="0" flipH="0" flipV="0">
            <a:off x="685800" y="3248025"/>
            <a:ext cx="6057900" cy="419100"/>
          </a:xfrm>
          <a:prstGeom prst="roundRect">
            <a:avLst>
              <a:gd name="adj" fmla="val 22727"/>
            </a:avLst>
          </a:prstGeom>
          <a:solidFill>
            <a:srgbClr val="0E1B2E"/>
          </a:solidFill>
          <a:ln/>
        </p:spPr>
        <p:txBody>
          <a:bodyPr/>
          <a:p/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857250" y="3371850"/>
            <a:ext cx="590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88" b="1">
                <a:solidFill>
                  <a:srgbClr val="F5F1E8"/>
                </a:solidFill>
                <a:latin typeface="Microsoft YaHei"/>
                <a:ea typeface="Microsoft YaHei"/>
              </a:rPr>
              <a:t>RRF </a:t>
            </a:r>
            <a:r>
              <a:rPr lang="zh-CN" sz="1088" b="1">
                <a:solidFill>
                  <a:srgbClr val="F5F1E8"/>
                </a:solidFill>
                <a:latin typeface="Microsoft YaHei"/>
                <a:ea typeface="Microsoft YaHei"/>
              </a:rPr>
              <a:t>融合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4857750" y="3390900"/>
            <a:ext cx="1714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5F1E8">
                    <a:alpha val="55000"/>
                  </a:srgbClr>
                </a:solidFill>
                <a:latin typeface="Microsoft YaHei"/>
                <a:ea typeface="Microsoft YaHei"/>
              </a:rPr>
              <a:t>按排名倒数加权，不用调分数阈值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3686175" y="3667125"/>
            <a:ext cx="66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>
                <a:solidFill>
                  <a:srgbClr val="0E1B2E">
                    <a:alpha val="30000"/>
                  </a:srgbClr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262" name=""/>
          <p:cNvSpPr/>
          <p:nvPr/>
        </p:nvSpPr>
        <p:spPr>
          <a:xfrm rot="0" flipH="0" flipV="0">
            <a:off x="685800" y="3876675"/>
            <a:ext cx="6057900" cy="409575"/>
          </a:xfrm>
          <a:prstGeom prst="roundRect">
            <a:avLst>
              <a:gd name="adj" fmla="val 23256"/>
            </a:avLst>
          </a:prstGeom>
          <a:solidFill>
            <a:srgbClr val="FFFFFF"/>
          </a:solidFill>
          <a:ln w="12700">
            <a:solidFill>
              <a:srgbClr val="0E1B2E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857250" y="4000500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E1B2E"/>
                </a:solidFill>
                <a:latin typeface="Microsoft YaHei"/>
                <a:ea typeface="Microsoft YaHei"/>
              </a:rPr>
              <a:t>父子块回填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5076825" y="4019550"/>
            <a:ext cx="14954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0E1B2E">
                    <a:alpha val="45000"/>
                  </a:srgbClr>
                </a:solidFill>
                <a:latin typeface="Microsoft YaHei"/>
                <a:ea typeface="Microsoft YaHei"/>
              </a:rPr>
              <a:t>命中子块</a:t>
            </a:r>
            <a:r>
              <a:rPr lang="en-US" sz="863">
                <a:solidFill>
                  <a:srgbClr val="0E1B2E">
                    <a:alpha val="45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863">
                <a:solidFill>
                  <a:srgbClr val="0E1B2E">
                    <a:alpha val="45000"/>
                  </a:srgbClr>
                </a:solidFill>
                <a:latin typeface="Microsoft YaHei"/>
                <a:ea typeface="Microsoft YaHei"/>
              </a:rPr>
              <a:t>补全父窗口上下文</a:t>
            </a:r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7162800" y="1238250"/>
            <a:ext cx="4191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C8A24A"/>
                </a:solidFill>
                <a:latin typeface="Consolas"/>
                <a:ea typeface="Consolas"/>
              </a:rPr>
              <a:t>+5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7677150" y="1238250"/>
            <a:ext cx="4953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0E1B2E">
                    <a:alpha val="55000"/>
                  </a:srgbClr>
                </a:solidFill>
                <a:latin typeface="Microsoft YaHei"/>
                <a:ea typeface="Microsoft YaHei"/>
              </a:rPr>
              <a:t>个百分点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7162800" y="1790700"/>
            <a:ext cx="4343400" cy="2762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0E1B2E">
                    <a:alpha val="68000"/>
                  </a:srgbClr>
                </a:solidFill>
                <a:latin typeface="Microsoft YaHei"/>
                <a:ea typeface="Microsoft YaHei"/>
              </a:rPr>
              <a:t>hit@5 </a:t>
            </a:r>
            <a:r>
              <a:rPr lang="zh-CN" sz="1050">
                <a:solidFill>
                  <a:srgbClr val="0E1B2E">
                    <a:alpha val="68000"/>
                  </a:srgbClr>
                </a:solidFill>
                <a:latin typeface="Microsoft YaHei"/>
                <a:ea typeface="Microsoft YaHei"/>
              </a:rPr>
              <a:t>从</a:t>
            </a:r>
            <a:r>
              <a:rPr lang="en-US" sz="1050">
                <a:solidFill>
                  <a:srgbClr val="0E1B2E">
                    <a:alpha val="68000"/>
                  </a:srgbClr>
                </a:solidFill>
                <a:latin typeface="Microsoft YaHei"/>
                <a:ea typeface="Microsoft YaHei"/>
              </a:rPr>
              <a:t> </a:t>
            </a:r>
            <a:r>
              <a:rPr lang="en-US" sz="1050" b="1">
                <a:solidFill>
                  <a:srgbClr val="0E1B2E"/>
                </a:solidFill>
                <a:latin typeface="Microsoft YaHei"/>
                <a:ea typeface="Microsoft YaHei"/>
              </a:rPr>
              <a:t>90%</a:t>
            </a:r>
            <a:r>
              <a:rPr lang="en-US" sz="1050">
                <a:solidFill>
                  <a:srgbClr val="0E1B2E">
                    <a:alpha val="68000"/>
                  </a:srgbClr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0E1B2E">
                    <a:alpha val="68000"/>
                  </a:srgbClr>
                </a:solidFill>
                <a:latin typeface="Microsoft YaHei"/>
                <a:ea typeface="Microsoft YaHei"/>
              </a:rPr>
              <a:t>提到</a:t>
            </a:r>
            <a:r>
              <a:rPr lang="en-US" sz="1050">
                <a:solidFill>
                  <a:srgbClr val="0E1B2E">
                    <a:alpha val="68000"/>
                  </a:srgbClr>
                </a:solidFill>
                <a:latin typeface="Microsoft YaHei"/>
                <a:ea typeface="Microsoft YaHei"/>
              </a:rPr>
              <a:t> </a:t>
            </a:r>
            <a:r>
              <a:rPr lang="en-US" sz="1050" b="1">
                <a:solidFill>
                  <a:srgbClr val="0E1B2E"/>
                </a:solidFill>
                <a:latin typeface="Microsoft YaHei"/>
                <a:ea typeface="Microsoft YaHei"/>
              </a:rPr>
              <a:t>95%</a:t>
            </a:r>
            <a:r>
              <a:rPr lang="zh-CN" sz="1050">
                <a:solidFill>
                  <a:srgbClr val="0E1B2E">
                    <a:alpha val="68000"/>
                  </a:srgbClr>
                </a:solidFill>
                <a:latin typeface="Microsoft YaHei"/>
                <a:ea typeface="Microsoft YaHei"/>
              </a:rPr>
              <a:t>，</a:t>
            </a:r>
            <a:r>
              <a:rPr lang="en-US" sz="1050">
                <a:solidFill>
                  <a:srgbClr val="0E1B2E">
                    <a:alpha val="68000"/>
                  </a:srgbClr>
                </a:solidFill>
                <a:latin typeface="Microsoft YaHei"/>
                <a:ea typeface="Microsoft YaHei"/>
              </a:rPr>
              <a:t>MRR </a:t>
            </a:r>
            <a:r>
              <a:rPr lang="zh-CN" sz="1050">
                <a:solidFill>
                  <a:srgbClr val="0E1B2E">
                    <a:alpha val="68000"/>
                  </a:srgbClr>
                </a:solidFill>
                <a:latin typeface="Microsoft YaHei"/>
                <a:ea typeface="Microsoft YaHei"/>
              </a:rPr>
              <a:t>从</a:t>
            </a:r>
            <a:r>
              <a:rPr lang="en-US" sz="1050">
                <a:solidFill>
                  <a:srgbClr val="0E1B2E">
                    <a:alpha val="68000"/>
                  </a:srgbClr>
                </a:solidFill>
                <a:latin typeface="Microsoft YaHei"/>
                <a:ea typeface="Microsoft YaHei"/>
              </a:rPr>
              <a:t> 0.767 </a:t>
            </a:r>
            <a:r>
              <a:rPr lang="zh-CN" sz="1050">
                <a:solidFill>
                  <a:srgbClr val="0E1B2E">
                    <a:alpha val="68000"/>
                  </a:srgbClr>
                </a:solidFill>
                <a:latin typeface="Microsoft YaHei"/>
                <a:ea typeface="Microsoft YaHei"/>
              </a:rPr>
              <a:t>到</a:t>
            </a:r>
            <a:r>
              <a:rPr lang="en-US" sz="1050">
                <a:solidFill>
                  <a:srgbClr val="0E1B2E">
                    <a:alpha val="68000"/>
                  </a:srgbClr>
                </a:solidFill>
                <a:latin typeface="Microsoft YaHei"/>
                <a:ea typeface="Microsoft YaHei"/>
              </a:rPr>
              <a:t> 0.885</a:t>
            </a:r>
            <a:r>
              <a:rPr lang="zh-CN" sz="1050">
                <a:solidFill>
                  <a:srgbClr val="0E1B2E">
                    <a:alpha val="68000"/>
                  </a:srgbClr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68" name=""/>
          <p:cNvSpPr/>
          <p:nvPr/>
        </p:nvSpPr>
        <p:spPr>
          <a:xfrm rot="0" flipH="0" flipV="0">
            <a:off x="7162800" y="2276475"/>
            <a:ext cx="4343400" cy="9525"/>
          </a:xfrm>
          <a:prstGeom prst="rect">
            <a:avLst/>
          </a:prstGeom>
          <a:solidFill>
            <a:srgbClr val="0E1B2E">
              <a:alpha val="10000"/>
            </a:srgbClr>
          </a:solidFill>
          <a:ln/>
        </p:spPr>
        <p:txBody>
          <a:bodyPr/>
          <a:p/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7162800" y="2495550"/>
            <a:ext cx="4343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0E1B2E"/>
                </a:solidFill>
                <a:latin typeface="Microsoft YaHei"/>
                <a:ea typeface="Microsoft YaHei"/>
              </a:rPr>
              <a:t>代价是慢三倍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7162800" y="2714625"/>
            <a:ext cx="4343400" cy="2476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975">
                <a:solidFill>
                  <a:srgbClr val="0E1B2E">
                    <a:alpha val="58000"/>
                  </a:srgbClr>
                </a:solidFill>
                <a:latin typeface="Microsoft YaHei"/>
                <a:ea typeface="Microsoft YaHei"/>
              </a:rPr>
              <a:t>检索延迟</a:t>
            </a:r>
            <a:r>
              <a:rPr lang="en-US" sz="975">
                <a:solidFill>
                  <a:srgbClr val="0E1B2E">
                    <a:alpha val="58000"/>
                  </a:srgbClr>
                </a:solidFill>
                <a:latin typeface="Microsoft YaHei"/>
                <a:ea typeface="Microsoft YaHei"/>
              </a:rPr>
              <a:t> 0.53s → 1.44s</a:t>
            </a:r>
            <a:r>
              <a:rPr lang="zh-CN" sz="975">
                <a:solidFill>
                  <a:srgbClr val="0E1B2E">
                    <a:alpha val="58000"/>
                  </a:srgbClr>
                </a:solidFill>
                <a:latin typeface="Microsoft YaHei"/>
                <a:ea typeface="Microsoft YaHei"/>
              </a:rPr>
              <a:t>。多花一秒换</a:t>
            </a:r>
            <a:r>
              <a:rPr lang="en-US" sz="975">
                <a:solidFill>
                  <a:srgbClr val="0E1B2E">
                    <a:alpha val="58000"/>
                  </a:srgbClr>
                </a:solidFill>
                <a:latin typeface="Microsoft YaHei"/>
                <a:ea typeface="Microsoft YaHei"/>
              </a:rPr>
              <a:t> 5 </a:t>
            </a:r>
            <a:r>
              <a:rPr lang="zh-CN" sz="975">
                <a:solidFill>
                  <a:srgbClr val="0E1B2E">
                    <a:alpha val="58000"/>
                  </a:srgbClr>
                </a:solidFill>
                <a:latin typeface="Microsoft YaHei"/>
                <a:ea typeface="Microsoft YaHei"/>
              </a:rPr>
              <a:t>个百分点召回，值。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7162800" y="3114675"/>
            <a:ext cx="4343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0E1B2E"/>
                </a:solidFill>
                <a:latin typeface="Microsoft YaHei"/>
                <a:ea typeface="Microsoft YaHei"/>
              </a:rPr>
              <a:t>还需要兜底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7162800" y="3333750"/>
            <a:ext cx="4343400" cy="2476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975">
                <a:solidFill>
                  <a:srgbClr val="0E1B2E">
                    <a:alpha val="58000"/>
                  </a:srgbClr>
                </a:solidFill>
                <a:latin typeface="Microsoft YaHei"/>
                <a:ea typeface="Microsoft YaHei"/>
              </a:rPr>
              <a:t>年报</a:t>
            </a:r>
            <a:r>
              <a:rPr lang="en-US" sz="975">
                <a:solidFill>
                  <a:srgbClr val="0E1B2E">
                    <a:alpha val="58000"/>
                  </a:srgbClr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0E1B2E">
                    <a:alpha val="58000"/>
                  </a:srgbClr>
                </a:solidFill>
                <a:latin typeface="Microsoft YaHei"/>
                <a:ea typeface="Microsoft YaHei"/>
              </a:rPr>
              <a:t>一页拆多节</a:t>
            </a:r>
            <a:r>
              <a:rPr lang="en-US" sz="975">
                <a:solidFill>
                  <a:srgbClr val="0E1B2E">
                    <a:alpha val="58000"/>
                  </a:srgbClr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0E1B2E">
                    <a:alpha val="58000"/>
                  </a:srgbClr>
                </a:solidFill>
                <a:latin typeface="Microsoft YaHei"/>
                <a:ea typeface="Microsoft YaHei"/>
              </a:rPr>
              <a:t>会让父窗口落到相邻章节，命中时自动回退用子块文本。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685800" y="6543675"/>
            <a:ext cx="14573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0E1B2E">
                    <a:alpha val="34000"/>
                  </a:srgbClr>
                </a:solidFill>
                <a:latin typeface="Microsoft YaHei"/>
                <a:ea typeface="Microsoft YaHei"/>
              </a:rPr>
              <a:t>FinSight · </a:t>
            </a:r>
            <a:r>
              <a:rPr lang="zh-CN" sz="900">
                <a:solidFill>
                  <a:srgbClr val="0E1B2E">
                    <a:alpha val="34000"/>
                  </a:srgbClr>
                </a:solidFill>
                <a:latin typeface="Microsoft YaHei"/>
                <a:ea typeface="Microsoft YaHei"/>
              </a:rPr>
              <a:t>白酒行业智能投研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11058525" y="6543675"/>
            <a:ext cx="447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0E1B2E">
                    <a:alpha val="34000"/>
                  </a:srgbClr>
                </a:solidFill>
                <a:latin typeface="Consolas"/>
                <a:ea typeface="Consolas"/>
              </a:rPr>
              <a:t>08 / 12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275" name="" descr="&lt;Slide style={{&#10;    width: 1280,&#10;    height: 720,&#10;    background: '#F5F1E8',&#10;    padding: '30px 72px 18px',&#10;    flexDirection: 'column',&#10;}}&gt;&#10;    &lt;Box style={{ flexDirection: 'row', alignItems: 'flex-end', justifyContent: 'space-between', height: 76 }}&gt;&#10;        &lt;Box style={{ flexDirection: 'column' }}&gt;&#10;            &lt;Text style={{ fontSize: 34, fontWeight: 'bold', color: '#0E1B2E' }}&gt;&#10;                先分类，再放行&#10;            &lt;/Text&gt;&#10;            &lt;Text style={{ fontSize: 15, color: 'rgba(14,27,46,0.55)', marginTop: 8 }}&gt;&#10;                让 LLM 写 SQL，危险的不是它写错，是它写对了一句你不想要的话&#10;            &lt;/Text&gt;&#10;        &lt;/Box&gt;&#10;        &lt;Text style={{ fontSize: 12, color: 'rgba(14,27,46,0.34)', letterSpacing: 2 }}&gt;&#10;            04 / 分流与安全&#10;        &lt;/Text&gt;&#10;    &lt;/Box&gt;&#10;&#10;    &lt;Box style={{ flexDirection: 'row', gap: 34, marginTop: 22, flex: 1 }}&gt;&#10;        &lt;Box style={{&#10;            width: 286,&#10;            background: 'linear-gradient(160deg, #0E1B2E 0%, #1d3a63 100%)',&#10;            borderRadius: 14,&#10;            padding: '26px 22px',&#10;            flexDirection: 'column',&#10;        }}&gt;&#10;            &lt;Text style={{ fontSize: 11, letterSpacing: 3, color: '#C8A24A', fontWeight: 'bold' }}&gt;ROUTING&lt;/Text&gt;&#10;            &lt;Text style={{ fontSize: 24, fontWeight: 'bold', color: '#F5F1E8', marginTop: 16, lineHeight: 1.35 }}&gt;&#10;                一道分类题，&lt;br /&gt;决定走哪条路&#10;            &lt;/Text&gt;&#10;            &lt;Box style={{ width: 44, height: 2, background: '#C8A24A', marginTop: 20 }} /&gt;&#10;            &lt;Text style={{ fontSize: 13, color: 'rgba(245,241,232,0.6)', marginTop: 18, lineHeight: 1.75 }}&gt;&#10;                财务指标 → SQL&lt;br /&gt;&#10;                原文解释 → RAG&lt;br /&gt;&#10;                行情荐股 → 通用回答 + 时效声明&#10;            &lt;/Text&gt;&#10;            &lt;Text style={{ fontSize: 12, color: 'rgba(245,241,232,0.38)', marginTop: 'auto', lineHeight: 1.7 }}&gt;&#10;                判错一次的代价：&lt;br /&gt;整段答案都答非所问。&#10;            &lt;/Text&gt;&#10;        &lt;/Box&gt;&#10;&#10;        &lt;Box style={{ flex: 1, flexDirection: 'column', gap: 18 }}&gt;&#10;            &lt;Box style={{ background: '#FFFFFF', borderRadius: 12, padding: '18px 22px', border: '1px solid rgba(14,27,46,0.10)', flexDirection: 'column' }}&gt;&#10;                &lt;Box style={{ flexDirection: 'row', alignItems: 'baseline', justifyContent: 'space-between' }}&gt;&#10;                    &lt;Text style={{ fontSize: 16, fontWeight: 'bold', color: '#0E1B2E' }}&gt;BERT 意图分类器&lt;/Text&gt;&#10;                    &lt;Text style={{ fontSize: 11, color: 'rgba(14,27,46,0.4)', fontFamily: 'Consolas' }}&gt;CPU 训练 8.3 分钟&lt;/Text&gt;&#10;                &lt;/Box&gt;&#10;                &lt;Box style={{ flexDirection: 'row', gap: 28, marginTop: 14 }}&gt;&#10;                    &lt;Box style={{ flexDirection: 'column' }}&gt;&#10;                        &lt;Text style={{ fontSize: 26, fontWeight: 'bold', color: '#C8A24A', fontFamily: 'Consolas', lineHeight: 1.1 }}&gt;1,200&lt;/Text&gt;&#10;                        &lt;Text style={{ fontSize: 11.5, color: 'rgba(14,27,46,0.5)', marginTop: 3 }}&gt;条训练数据 · 11 子类&lt;/Text&gt;&#10;                    &lt;/Box&gt;&#10;                    &lt;Box style={{ flexDirection: 'column' }}&gt;&#10;                        &lt;Text style={{ fontSize: 26, fontWeight: 'bold', color: '#C8A24A', fontFamily: 'Consolas', lineHeight: 1.1 }}&gt;1.000&lt;/Text&gt;&#10;                        &lt;Text style={{ fontSize: 11.5, color: 'rgba(14,27,46,0.5)', marginTop: 3 }}&gt;OOD 准确率 · 规则 0.941&lt;/Text&gt;&#10;                    &lt;/Box&gt;&#10;                    &lt;Box style={{ flexDirection: 'column' }}&gt;&#10;                        &lt;Text style={{ fontSize: 26, fontWeight: 'bold', color: '#C8A24A', fontFamily: 'Consolas', lineHeight: 1.1 }}&gt;55ms&lt;/Text&gt;&#10;                        &lt;Text style={{ fontSize: 11.5, color: 'rgba(14,27,46,0.5)', marginTop: 3 }}&gt;单条推理&lt;/Text&gt;&#10;                    &lt;/Box&gt;&#10;                &lt;/Box&gt;&#10;                &lt;Text style={{ fontSize: 12, color: 'rgba(14,27,46,0.45)', marginTop: 12, lineHeight: 1.6 }}&gt;&#10;                    样本量小，OOD 只 34 条 —— 1.0 是上限参考，不是泛化保证。&#10;                &lt;/Text&gt;&#10;            &lt;/Box&gt;&#10;&#10;            &lt;Box style={{ background: '#FFFFFF', borderRadius: 12, padding: '18px 22px', border: '1px solid rgba(14,27,46,0.10)', flexDirection: 'column', flex: 1 }}&gt;&#10;                &lt;Box style={{ flexDirection: 'row', alignItems: 'baseline', justifyContent: 'space-between' }}&gt;&#10;                    &lt;Text style={{ fontSize: 16, fontWeight: 'bold', color: '#0E1B2E' }}&gt;SQL 安全闸&lt;/Text&gt;&#10;                    &lt;Text style={{ fontSize: 11, color: 'rgba(14,27,46,0.4)', fontFamily: 'Consolas' }}&gt;sqlglot 解析&lt;/Text&gt;&#10;                &lt;/Box&gt;&#10;                &lt;Box style={{ flexDirection: 'row', gap: 12, marginTop: 14 }}&gt;&#10;                    &lt;Box style={{ flex: 1, background: 'rgba(47,93,158,0.07)', borderRadius: 8, padding: '11px 12px', flexDirection: 'column' }}&gt;&#10;                        &lt;Text style={{ fontSize: 12.5, fontWeight: 'bold', color: '#2F5D9E' }}&gt;单条 SELECT&lt;/Text&gt;&#10;                        &lt;Text style={{ fontSize: 11, color: 'rgba(14,27,46,0.5)', marginTop: 4 }}&gt;拒绝多语句拼接&lt;/Text&gt;&#10;                    &lt;/Box&gt;&#10;                    &lt;Box style={{ flex: 1, background: 'rgba(47,93,158,0.07)', borderRadius: 8, padding: '11px 12px', flexDirection: 'column' }}&gt;&#10;                        &lt;Text style={{ fontSize: 12.5, fontWeight: 'bold', color: '#2F5D9E' }}&gt;四表白名单&lt;/Text&gt;&#10;                        &lt;Text style={{ fontSize: 11, color: 'rgba(14,27,46,0.5)', marginTop: 4 }}&gt;禁系统表 / DDL&lt;/Text&gt;&#10;                    &lt;/Box&gt;&#10;                    &lt;Box style={{ flex: 1, background: 'rgba(47,93,158,0.07)', borderRadius: 8, padding: '11px 12px', flexDirection: 'column' }}&gt;&#10;                        &lt;Text style={{ fontSize: 12.5, fontWeight: 'bold', color: '#2F5D9E' }}&gt;强制 LIMIT&lt;/Text&gt;&#10;                        &lt;Text style={{ fontSize: 11, color: 'rgba(14,27,46,0.5)', marginTop: 4 }}&gt;兜底 200 行&lt;/Text&gt;&#10;                    &lt;/Box&gt;&#10;                &lt;/Box&gt;&#10;                &lt;Box style={{ flexDirection: 'row', alignItems: 'center', gap: 10, marginTop: 'auto', paddingTop: 14 }}&gt;&#10;                    &lt;Box style={{ width: 3, height: 30, background: '#C8A24A' }} /&gt;&#10;                    &lt;Text style={{ fontSize: 12.5, color: 'rgba(14,27,46,0.62)', lineHeight: 1.55 }}&gt;&#10;                        实测 &lt;span style={{ fontWeight: 'bold', color: '#0E1B2E' }}&gt;DELETE FROM companies&lt;/span&gt; 与 &lt;span style={{ fontWeight: 'bold', color: '#0E1B2E' }}&gt;SELECT * FROM mysql.user&lt;/span&gt; 均被拦截；12 道指标题数值命中 100%。&#10;                    &lt;/Text&gt;&#10;                &lt;/Box&gt;&#10;            &lt;/Box&gt;&#10;        &lt;/Box&gt;&#10;    &lt;/Box&gt;&#10;&#10;    &lt;Box style={{ height: 32, flexDirection: 'row', justifyContent: 'space-between', alignItems: 'flex-end' }}&gt;&#10;        &lt;Text style={{ fontSize: 12, color: 'rgba(14,27,46,0.34)' }}&gt;FinSight · 白酒行业智能投研&lt;/Text&gt;&#10;        &lt;Text style={{ fontSize: 12, color: 'rgba(14,27,46,0.34)', fontFamily: 'Consolas' }}&gt;09 / 12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/>
        </p:spPr>
        <p:txBody>
          <a:bodyPr/>
          <a:p/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685800" y="371475"/>
            <a:ext cx="42576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1B2E"/>
                </a:solidFill>
                <a:latin typeface="Microsoft YaHei"/>
                <a:ea typeface="Microsoft YaHei"/>
              </a:rPr>
              <a:t>先分类，再放行</a:t>
            </a:r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685800" y="838200"/>
            <a:ext cx="4257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0E1B2E">
                    <a:alpha val="55000"/>
                  </a:srgbClr>
                </a:solidFill>
                <a:latin typeface="Microsoft YaHei"/>
                <a:ea typeface="Microsoft YaHei"/>
              </a:rPr>
              <a:t>让</a:t>
            </a:r>
            <a:r>
              <a:rPr lang="en-US" sz="1125">
                <a:solidFill>
                  <a:srgbClr val="0E1B2E">
                    <a:alpha val="55000"/>
                  </a:srgbClr>
                </a:solidFill>
                <a:latin typeface="Microsoft YaHei"/>
                <a:ea typeface="Microsoft YaHei"/>
              </a:rPr>
              <a:t> LLM </a:t>
            </a:r>
            <a:r>
              <a:rPr lang="zh-CN" sz="1125">
                <a:solidFill>
                  <a:srgbClr val="0E1B2E">
                    <a:alpha val="55000"/>
                  </a:srgbClr>
                </a:solidFill>
                <a:latin typeface="Microsoft YaHei"/>
                <a:ea typeface="Microsoft YaHei"/>
              </a:rPr>
              <a:t>写</a:t>
            </a:r>
            <a:r>
              <a:rPr lang="en-US" sz="1125">
                <a:solidFill>
                  <a:srgbClr val="0E1B2E">
                    <a:alpha val="55000"/>
                  </a:srgbClr>
                </a:solidFill>
                <a:latin typeface="Microsoft YaHei"/>
                <a:ea typeface="Microsoft YaHei"/>
              </a:rPr>
              <a:t> SQL</a:t>
            </a:r>
            <a:r>
              <a:rPr lang="zh-CN" sz="1125">
                <a:solidFill>
                  <a:srgbClr val="0E1B2E">
                    <a:alpha val="55000"/>
                  </a:srgbClr>
                </a:solidFill>
                <a:latin typeface="Microsoft YaHei"/>
                <a:ea typeface="Microsoft YaHei"/>
              </a:rPr>
              <a:t>，危险的不是它写错，是它写对了一句你不想要的话</a:t>
            </a:r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10487025" y="866775"/>
            <a:ext cx="10191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0E1B2E">
                    <a:alpha val="34000"/>
                  </a:srgbClr>
                </a:solidFill>
                <a:latin typeface="Microsoft YaHei"/>
                <a:ea typeface="Microsoft YaHei"/>
              </a:rPr>
              <a:t>04 / </a:t>
            </a:r>
            <a:r>
              <a:rPr lang="zh-CN" sz="900" spc="150">
                <a:solidFill>
                  <a:srgbClr val="0E1B2E">
                    <a:alpha val="34000"/>
                  </a:srgbClr>
                </a:solidFill>
                <a:latin typeface="Microsoft YaHei"/>
                <a:ea typeface="Microsoft YaHei"/>
              </a:rPr>
              <a:t>分流与安全</a:t>
            </a:r>
            <a:endParaRPr/>
          </a:p>
        </p:txBody>
      </p:sp>
      <p:sp>
        <p:nvSpPr>
          <p:cNvPr id="280" name=""/>
          <p:cNvSpPr/>
          <p:nvPr/>
        </p:nvSpPr>
        <p:spPr>
          <a:xfrm rot="0" flipH="0" flipV="0">
            <a:off x="685800" y="1219200"/>
            <a:ext cx="2724150" cy="5162550"/>
          </a:xfrm>
          <a:prstGeom prst="roundRect">
            <a:avLst>
              <a:gd name="adj" fmla="val 4895"/>
            </a:avLst>
          </a:prstGeom>
          <a:gradFill>
            <a:gsLst>
              <a:gs pos="0">
                <a:srgbClr val="0E1B2E"/>
              </a:gs>
              <a:gs pos="100000">
                <a:srgbClr val="1D3A63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895350" y="1466850"/>
            <a:ext cx="23050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 spc="225">
                <a:solidFill>
                  <a:srgbClr val="C8A24A"/>
                </a:solidFill>
                <a:latin typeface="Microsoft YaHei"/>
                <a:ea typeface="Microsoft YaHei"/>
              </a:rPr>
              <a:t>ROUTING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895350" y="1752600"/>
            <a:ext cx="2305050" cy="7429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800" b="1">
                <a:solidFill>
                  <a:srgbClr val="F5F1E8"/>
                </a:solidFill>
                <a:latin typeface="Microsoft YaHei"/>
                <a:ea typeface="Microsoft YaHei"/>
              </a:rPr>
              <a:t>一道分类题，</a:t>
            </a:r>
            <a:endParaRPr/>
          </a:p>
          <a:p>
            <a:pPr>
              <a:lnSpc>
                <a:spcPct val="135000"/>
              </a:lnSpc>
            </a:pPr>
            <a:r>
              <a:rPr lang="zh-CN" sz="1800" b="1">
                <a:solidFill>
                  <a:srgbClr val="F5F1E8"/>
                </a:solidFill>
                <a:latin typeface="Microsoft YaHei"/>
                <a:ea typeface="Microsoft YaHei"/>
              </a:rPr>
              <a:t>决定走哪条路</a:t>
            </a:r>
            <a:endParaRPr/>
          </a:p>
        </p:txBody>
      </p:sp>
      <p:sp>
        <p:nvSpPr>
          <p:cNvPr id="283" name=""/>
          <p:cNvSpPr/>
          <p:nvPr/>
        </p:nvSpPr>
        <p:spPr>
          <a:xfrm rot="0" flipH="0" flipV="0">
            <a:off x="895350" y="2686050"/>
            <a:ext cx="419100" cy="19050"/>
          </a:xfrm>
          <a:prstGeom prst="rect">
            <a:avLst/>
          </a:prstGeom>
          <a:solidFill>
            <a:srgbClr val="C8A24A"/>
          </a:solidFill>
          <a:ln/>
        </p:spPr>
        <p:txBody>
          <a:bodyPr/>
          <a:p/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895350" y="2876550"/>
            <a:ext cx="2305050" cy="78105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975">
                <a:solidFill>
                  <a:srgbClr val="F5F1E8">
                    <a:alpha val="60000"/>
                  </a:srgbClr>
                </a:solidFill>
                <a:latin typeface="Microsoft YaHei"/>
                <a:ea typeface="Microsoft YaHei"/>
              </a:rPr>
              <a:t>财务指标</a:t>
            </a:r>
            <a:r>
              <a:rPr lang="en-US" sz="975">
                <a:solidFill>
                  <a:srgbClr val="F5F1E8">
                    <a:alpha val="60000"/>
                  </a:srgbClr>
                </a:solidFill>
                <a:latin typeface="Microsoft YaHei"/>
                <a:ea typeface="Microsoft YaHei"/>
              </a:rPr>
              <a:t> → SQL</a:t>
            </a:r>
            <a:endParaRPr/>
          </a:p>
          <a:p>
            <a:pPr>
              <a:lnSpc>
                <a:spcPct val="175000"/>
              </a:lnSpc>
            </a:pPr>
            <a:r>
              <a:rPr lang="zh-CN" sz="975">
                <a:solidFill>
                  <a:srgbClr val="F5F1E8">
                    <a:alpha val="60000"/>
                  </a:srgbClr>
                </a:solidFill>
                <a:latin typeface="Microsoft YaHei"/>
                <a:ea typeface="Microsoft YaHei"/>
              </a:rPr>
              <a:t>原文解释</a:t>
            </a:r>
            <a:r>
              <a:rPr lang="en-US" sz="975">
                <a:solidFill>
                  <a:srgbClr val="F5F1E8">
                    <a:alpha val="60000"/>
                  </a:srgbClr>
                </a:solidFill>
                <a:latin typeface="Microsoft YaHei"/>
                <a:ea typeface="Microsoft YaHei"/>
              </a:rPr>
              <a:t> → RAG</a:t>
            </a:r>
            <a:endParaRPr/>
          </a:p>
          <a:p>
            <a:pPr>
              <a:lnSpc>
                <a:spcPct val="175000"/>
              </a:lnSpc>
            </a:pPr>
            <a:r>
              <a:rPr lang="zh-CN" sz="975">
                <a:solidFill>
                  <a:srgbClr val="F5F1E8">
                    <a:alpha val="60000"/>
                  </a:srgbClr>
                </a:solidFill>
                <a:latin typeface="Microsoft YaHei"/>
                <a:ea typeface="Microsoft YaHei"/>
              </a:rPr>
              <a:t>行情荐股</a:t>
            </a:r>
            <a:r>
              <a:rPr lang="en-US" sz="975">
                <a:solidFill>
                  <a:srgbClr val="F5F1E8">
                    <a:alpha val="60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975">
                <a:solidFill>
                  <a:srgbClr val="F5F1E8">
                    <a:alpha val="60000"/>
                  </a:srgbClr>
                </a:solidFill>
                <a:latin typeface="Microsoft YaHei"/>
                <a:ea typeface="Microsoft YaHei"/>
              </a:rPr>
              <a:t>通用回答</a:t>
            </a:r>
            <a:r>
              <a:rPr lang="en-US" sz="975">
                <a:solidFill>
                  <a:srgbClr val="F5F1E8">
                    <a:alpha val="60000"/>
                  </a:srgbClr>
                </a:solidFill>
                <a:latin typeface="Microsoft YaHei"/>
                <a:ea typeface="Microsoft YaHei"/>
              </a:rPr>
              <a:t> + </a:t>
            </a:r>
            <a:r>
              <a:rPr lang="zh-CN" sz="975">
                <a:solidFill>
                  <a:srgbClr val="F5F1E8">
                    <a:alpha val="60000"/>
                  </a:srgbClr>
                </a:solidFill>
                <a:latin typeface="Microsoft YaHei"/>
                <a:ea typeface="Microsoft YaHei"/>
              </a:rPr>
              <a:t>时效声明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895350" y="5667375"/>
            <a:ext cx="2305050" cy="4667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00">
                <a:solidFill>
                  <a:srgbClr val="F5F1E8">
                    <a:alpha val="38000"/>
                  </a:srgbClr>
                </a:solidFill>
                <a:latin typeface="Microsoft YaHei"/>
                <a:ea typeface="Microsoft YaHei"/>
              </a:rPr>
              <a:t>判错一次的代价：</a:t>
            </a:r>
            <a:endParaRPr/>
          </a:p>
          <a:p>
            <a:pPr>
              <a:lnSpc>
                <a:spcPct val="170000"/>
              </a:lnSpc>
            </a:pPr>
            <a:r>
              <a:rPr lang="zh-CN" sz="900">
                <a:solidFill>
                  <a:srgbClr val="F5F1E8">
                    <a:alpha val="38000"/>
                  </a:srgbClr>
                </a:solidFill>
                <a:latin typeface="Microsoft YaHei"/>
                <a:ea typeface="Microsoft YaHei"/>
              </a:rPr>
              <a:t>整段答案都答非所问。</a:t>
            </a:r>
            <a:endParaRPr/>
          </a:p>
        </p:txBody>
      </p:sp>
      <p:sp>
        <p:nvSpPr>
          <p:cNvPr id="286" name=""/>
          <p:cNvSpPr/>
          <p:nvPr/>
        </p:nvSpPr>
        <p:spPr>
          <a:xfrm rot="0" flipH="0" flipV="0">
            <a:off x="3733800" y="1219200"/>
            <a:ext cx="7772400" cy="1504950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 w="12700">
            <a:solidFill>
              <a:srgbClr val="0E1B2E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3943350" y="1390650"/>
            <a:ext cx="1200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1B2E"/>
                </a:solidFill>
                <a:latin typeface="Microsoft YaHei"/>
                <a:ea typeface="Microsoft YaHei"/>
              </a:rPr>
              <a:t>BERT </a:t>
            </a:r>
            <a:r>
              <a:rPr lang="zh-CN" sz="1200" b="1">
                <a:solidFill>
                  <a:srgbClr val="0E1B2E"/>
                </a:solidFill>
                <a:latin typeface="Microsoft YaHei"/>
                <a:ea typeface="Microsoft YaHei"/>
              </a:rPr>
              <a:t>意图分类器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10125075" y="1390650"/>
            <a:ext cx="11715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0E1B2E">
                    <a:alpha val="40000"/>
                  </a:srgbClr>
                </a:solidFill>
                <a:latin typeface="Consolas"/>
                <a:ea typeface="Consolas"/>
              </a:rPr>
              <a:t>CPU </a:t>
            </a:r>
            <a:r>
              <a:rPr lang="zh-CN" sz="825">
                <a:solidFill>
                  <a:srgbClr val="0E1B2E">
                    <a:alpha val="40000"/>
                  </a:srgbClr>
                </a:solidFill>
                <a:latin typeface="Consolas"/>
                <a:ea typeface="Consolas"/>
              </a:rPr>
              <a:t>训练</a:t>
            </a:r>
            <a:r>
              <a:rPr lang="en-US" sz="825">
                <a:solidFill>
                  <a:srgbClr val="0E1B2E">
                    <a:alpha val="40000"/>
                  </a:srgbClr>
                </a:solidFill>
                <a:latin typeface="Consolas"/>
                <a:ea typeface="Consolas"/>
              </a:rPr>
              <a:t> 8.3 </a:t>
            </a:r>
            <a:r>
              <a:rPr lang="zh-CN" sz="825">
                <a:solidFill>
                  <a:srgbClr val="0E1B2E">
                    <a:alpha val="40000"/>
                  </a:srgbClr>
                </a:solidFill>
                <a:latin typeface="Consolas"/>
                <a:ea typeface="Consolas"/>
              </a:rPr>
              <a:t>分钟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3943350" y="1714500"/>
            <a:ext cx="1019175" cy="33337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1950" b="1">
                <a:solidFill>
                  <a:srgbClr val="C8A24A"/>
                </a:solidFill>
                <a:latin typeface="Consolas"/>
                <a:ea typeface="Consolas"/>
              </a:rPr>
              <a:t>1,200</a:t>
            </a:r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3943350" y="2076450"/>
            <a:ext cx="10191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0E1B2E">
                    <a:alpha val="50000"/>
                  </a:srgbClr>
                </a:solidFill>
                <a:latin typeface="Microsoft YaHei"/>
                <a:ea typeface="Microsoft YaHei"/>
              </a:rPr>
              <a:t>条训练数据</a:t>
            </a:r>
            <a:r>
              <a:rPr lang="en-US" sz="863">
                <a:solidFill>
                  <a:srgbClr val="0E1B2E">
                    <a:alpha val="50000"/>
                  </a:srgbClr>
                </a:solidFill>
                <a:latin typeface="Microsoft YaHei"/>
                <a:ea typeface="Microsoft YaHei"/>
              </a:rPr>
              <a:t> · 11 </a:t>
            </a:r>
            <a:r>
              <a:rPr lang="zh-CN" sz="863">
                <a:solidFill>
                  <a:srgbClr val="0E1B2E">
                    <a:alpha val="50000"/>
                  </a:srgbClr>
                </a:solidFill>
                <a:latin typeface="Microsoft YaHei"/>
                <a:ea typeface="Microsoft YaHei"/>
              </a:rPr>
              <a:t>子类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5229225" y="1714500"/>
            <a:ext cx="1257300" cy="33337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1950" b="1">
                <a:solidFill>
                  <a:srgbClr val="C8A24A"/>
                </a:solidFill>
                <a:latin typeface="Consolas"/>
                <a:ea typeface="Consolas"/>
              </a:rPr>
              <a:t>1.000</a:t>
            </a:r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5229225" y="2076450"/>
            <a:ext cx="12573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0E1B2E">
                    <a:alpha val="50000"/>
                  </a:srgbClr>
                </a:solidFill>
                <a:latin typeface="Microsoft YaHei"/>
                <a:ea typeface="Microsoft YaHei"/>
              </a:rPr>
              <a:t>OOD </a:t>
            </a:r>
            <a:r>
              <a:rPr lang="zh-CN" sz="863">
                <a:solidFill>
                  <a:srgbClr val="0E1B2E">
                    <a:alpha val="50000"/>
                  </a:srgbClr>
                </a:solidFill>
                <a:latin typeface="Microsoft YaHei"/>
                <a:ea typeface="Microsoft YaHei"/>
              </a:rPr>
              <a:t>准确率</a:t>
            </a:r>
            <a:r>
              <a:rPr lang="en-US" sz="863">
                <a:solidFill>
                  <a:srgbClr val="0E1B2E">
                    <a:alpha val="5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863">
                <a:solidFill>
                  <a:srgbClr val="0E1B2E">
                    <a:alpha val="50000"/>
                  </a:srgbClr>
                </a:solidFill>
                <a:latin typeface="Microsoft YaHei"/>
                <a:ea typeface="Microsoft YaHei"/>
              </a:rPr>
              <a:t>规则</a:t>
            </a:r>
            <a:r>
              <a:rPr lang="en-US" sz="863">
                <a:solidFill>
                  <a:srgbClr val="0E1B2E">
                    <a:alpha val="50000"/>
                  </a:srgbClr>
                </a:solidFill>
                <a:latin typeface="Microsoft YaHei"/>
                <a:ea typeface="Microsoft YaHei"/>
              </a:rPr>
              <a:t> 0.941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6753225" y="1714500"/>
            <a:ext cx="552450" cy="33337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1950" b="1">
                <a:solidFill>
                  <a:srgbClr val="C8A24A"/>
                </a:solidFill>
                <a:latin typeface="Consolas"/>
                <a:ea typeface="Consolas"/>
              </a:rPr>
              <a:t>55ms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6753225" y="2076450"/>
            <a:ext cx="552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0E1B2E">
                    <a:alpha val="50000"/>
                  </a:srgbClr>
                </a:solidFill>
                <a:latin typeface="Microsoft YaHei"/>
                <a:ea typeface="Microsoft YaHei"/>
              </a:rPr>
              <a:t>单条推理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3943350" y="2324100"/>
            <a:ext cx="7353300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00">
                <a:solidFill>
                  <a:srgbClr val="0E1B2E">
                    <a:alpha val="45000"/>
                  </a:srgbClr>
                </a:solidFill>
                <a:latin typeface="Microsoft YaHei"/>
                <a:ea typeface="Microsoft YaHei"/>
              </a:rPr>
              <a:t>样本量小，</a:t>
            </a:r>
            <a:r>
              <a:rPr lang="en-US" sz="900">
                <a:solidFill>
                  <a:srgbClr val="0E1B2E">
                    <a:alpha val="45000"/>
                  </a:srgbClr>
                </a:solidFill>
                <a:latin typeface="Microsoft YaHei"/>
                <a:ea typeface="Microsoft YaHei"/>
              </a:rPr>
              <a:t>OOD </a:t>
            </a:r>
            <a:r>
              <a:rPr lang="zh-CN" sz="900">
                <a:solidFill>
                  <a:srgbClr val="0E1B2E">
                    <a:alpha val="45000"/>
                  </a:srgbClr>
                </a:solidFill>
                <a:latin typeface="Microsoft YaHei"/>
                <a:ea typeface="Microsoft YaHei"/>
              </a:rPr>
              <a:t>只</a:t>
            </a:r>
            <a:r>
              <a:rPr lang="en-US" sz="900">
                <a:solidFill>
                  <a:srgbClr val="0E1B2E">
                    <a:alpha val="45000"/>
                  </a:srgbClr>
                </a:solidFill>
                <a:latin typeface="Microsoft YaHei"/>
                <a:ea typeface="Microsoft YaHei"/>
              </a:rPr>
              <a:t> 34 </a:t>
            </a:r>
            <a:r>
              <a:rPr lang="zh-CN" sz="900">
                <a:solidFill>
                  <a:srgbClr val="0E1B2E">
                    <a:alpha val="45000"/>
                  </a:srgbClr>
                </a:solidFill>
                <a:latin typeface="Microsoft YaHei"/>
                <a:ea typeface="Microsoft YaHei"/>
              </a:rPr>
              <a:t>条</a:t>
            </a:r>
            <a:r>
              <a:rPr lang="en-US" sz="900">
                <a:solidFill>
                  <a:srgbClr val="0E1B2E">
                    <a:alpha val="45000"/>
                  </a:srgbClr>
                </a:solidFill>
                <a:latin typeface="Microsoft YaHei"/>
                <a:ea typeface="Microsoft YaHei"/>
              </a:rPr>
              <a:t> —— 1.0 </a:t>
            </a:r>
            <a:r>
              <a:rPr lang="zh-CN" sz="900">
                <a:solidFill>
                  <a:srgbClr val="0E1B2E">
                    <a:alpha val="45000"/>
                  </a:srgbClr>
                </a:solidFill>
                <a:latin typeface="Microsoft YaHei"/>
                <a:ea typeface="Microsoft YaHei"/>
              </a:rPr>
              <a:t>是上限参考，不是泛化保证。</a:t>
            </a:r>
            <a:endParaRPr/>
          </a:p>
        </p:txBody>
      </p:sp>
      <p:sp>
        <p:nvSpPr>
          <p:cNvPr id="296" name=""/>
          <p:cNvSpPr/>
          <p:nvPr/>
        </p:nvSpPr>
        <p:spPr>
          <a:xfrm rot="0" flipH="0" flipV="0">
            <a:off x="3733800" y="2895600"/>
            <a:ext cx="7772400" cy="348615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0E1B2E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3943350" y="3067050"/>
            <a:ext cx="8096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1B2E"/>
                </a:solidFill>
                <a:latin typeface="Microsoft YaHei"/>
                <a:ea typeface="Microsoft YaHei"/>
              </a:rPr>
              <a:t>SQL </a:t>
            </a:r>
            <a:r>
              <a:rPr lang="zh-CN" sz="1200" b="1">
                <a:solidFill>
                  <a:srgbClr val="0E1B2E"/>
                </a:solidFill>
                <a:latin typeface="Microsoft YaHei"/>
                <a:ea typeface="Microsoft YaHei"/>
              </a:rPr>
              <a:t>安全闸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10506075" y="3067050"/>
            <a:ext cx="7905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0E1B2E">
                    <a:alpha val="40000"/>
                  </a:srgbClr>
                </a:solidFill>
                <a:latin typeface="Consolas"/>
                <a:ea typeface="Consolas"/>
              </a:rPr>
              <a:t>sqlglot </a:t>
            </a:r>
            <a:r>
              <a:rPr lang="zh-CN" sz="825">
                <a:solidFill>
                  <a:srgbClr val="0E1B2E">
                    <a:alpha val="40000"/>
                  </a:srgbClr>
                </a:solidFill>
                <a:latin typeface="Consolas"/>
                <a:ea typeface="Consolas"/>
              </a:rPr>
              <a:t>解析</a:t>
            </a:r>
            <a:endParaRPr/>
          </a:p>
        </p:txBody>
      </p:sp>
      <p:sp>
        <p:nvSpPr>
          <p:cNvPr id="299" name=""/>
          <p:cNvSpPr/>
          <p:nvPr/>
        </p:nvSpPr>
        <p:spPr>
          <a:xfrm rot="0" flipH="0" flipV="0">
            <a:off x="3943350" y="3390900"/>
            <a:ext cx="2371725" cy="523875"/>
          </a:xfrm>
          <a:prstGeom prst="roundRect">
            <a:avLst>
              <a:gd name="adj" fmla="val 14545"/>
            </a:avLst>
          </a:prstGeom>
          <a:solidFill>
            <a:srgbClr val="2F5D9E">
              <a:alpha val="7000"/>
            </a:srgbClr>
          </a:solidFill>
          <a:ln/>
        </p:spPr>
        <p:txBody>
          <a:bodyPr/>
          <a:p/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4057650" y="3495675"/>
            <a:ext cx="21431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2F5D9E"/>
                </a:solidFill>
                <a:latin typeface="Microsoft YaHei"/>
                <a:ea typeface="Microsoft YaHei"/>
              </a:rPr>
              <a:t>单条</a:t>
            </a:r>
            <a:r>
              <a:rPr lang="en-US" sz="938" b="1">
                <a:solidFill>
                  <a:srgbClr val="2F5D9E"/>
                </a:solidFill>
                <a:latin typeface="Microsoft YaHei"/>
                <a:ea typeface="Microsoft YaHei"/>
              </a:rPr>
              <a:t> SELECT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4057650" y="3676650"/>
            <a:ext cx="21431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0E1B2E">
                    <a:alpha val="50000"/>
                  </a:srgbClr>
                </a:solidFill>
                <a:latin typeface="Microsoft YaHei"/>
                <a:ea typeface="Microsoft YaHei"/>
              </a:rPr>
              <a:t>拒绝多语句拼接</a:t>
            </a:r>
            <a:endParaRPr/>
          </a:p>
        </p:txBody>
      </p:sp>
      <p:sp>
        <p:nvSpPr>
          <p:cNvPr id="302" name=""/>
          <p:cNvSpPr/>
          <p:nvPr/>
        </p:nvSpPr>
        <p:spPr>
          <a:xfrm rot="0" flipH="0" flipV="0">
            <a:off x="6429375" y="3390900"/>
            <a:ext cx="2381250" cy="523875"/>
          </a:xfrm>
          <a:prstGeom prst="roundRect">
            <a:avLst>
              <a:gd name="adj" fmla="val 14545"/>
            </a:avLst>
          </a:prstGeom>
          <a:solidFill>
            <a:srgbClr val="2F5D9E">
              <a:alpha val="7000"/>
            </a:srgbClr>
          </a:solidFill>
          <a:ln/>
        </p:spPr>
        <p:txBody>
          <a:bodyPr/>
          <a:p/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6543675" y="3495675"/>
            <a:ext cx="2152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2F5D9E"/>
                </a:solidFill>
                <a:latin typeface="Microsoft YaHei"/>
                <a:ea typeface="Microsoft YaHei"/>
              </a:rPr>
              <a:t>四表白名单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6543675" y="3676650"/>
            <a:ext cx="2152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0E1B2E">
                    <a:alpha val="50000"/>
                  </a:srgbClr>
                </a:solidFill>
                <a:latin typeface="Microsoft YaHei"/>
                <a:ea typeface="Microsoft YaHei"/>
              </a:rPr>
              <a:t>禁系统表</a:t>
            </a:r>
            <a:r>
              <a:rPr lang="en-US" sz="825">
                <a:solidFill>
                  <a:srgbClr val="0E1B2E">
                    <a:alpha val="50000"/>
                  </a:srgbClr>
                </a:solidFill>
                <a:latin typeface="Microsoft YaHei"/>
                <a:ea typeface="Microsoft YaHei"/>
              </a:rPr>
              <a:t> / DDL</a:t>
            </a:r>
            <a:endParaRPr/>
          </a:p>
        </p:txBody>
      </p:sp>
      <p:sp>
        <p:nvSpPr>
          <p:cNvPr id="305" name=""/>
          <p:cNvSpPr/>
          <p:nvPr/>
        </p:nvSpPr>
        <p:spPr>
          <a:xfrm rot="0" flipH="0" flipV="0">
            <a:off x="8924925" y="3390900"/>
            <a:ext cx="2371725" cy="523875"/>
          </a:xfrm>
          <a:prstGeom prst="roundRect">
            <a:avLst>
              <a:gd name="adj" fmla="val 14545"/>
            </a:avLst>
          </a:prstGeom>
          <a:solidFill>
            <a:srgbClr val="2F5D9E">
              <a:alpha val="7000"/>
            </a:srgbClr>
          </a:solidFill>
          <a:ln/>
        </p:spPr>
        <p:txBody>
          <a:bodyPr/>
          <a:p/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9039225" y="3495675"/>
            <a:ext cx="21431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2F5D9E"/>
                </a:solidFill>
                <a:latin typeface="Microsoft YaHei"/>
                <a:ea typeface="Microsoft YaHei"/>
              </a:rPr>
              <a:t>强制</a:t>
            </a:r>
            <a:r>
              <a:rPr lang="en-US" sz="938" b="1">
                <a:solidFill>
                  <a:srgbClr val="2F5D9E"/>
                </a:solidFill>
                <a:latin typeface="Microsoft YaHei"/>
                <a:ea typeface="Microsoft YaHei"/>
              </a:rPr>
              <a:t> LIMIT</a:t>
            </a:r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9039225" y="3676650"/>
            <a:ext cx="21431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0E1B2E">
                    <a:alpha val="50000"/>
                  </a:srgbClr>
                </a:solidFill>
                <a:latin typeface="Microsoft YaHei"/>
                <a:ea typeface="Microsoft YaHei"/>
              </a:rPr>
              <a:t>兜底</a:t>
            </a:r>
            <a:r>
              <a:rPr lang="en-US" sz="825">
                <a:solidFill>
                  <a:srgbClr val="0E1B2E">
                    <a:alpha val="50000"/>
                  </a:srgbClr>
                </a:solidFill>
                <a:latin typeface="Microsoft YaHei"/>
                <a:ea typeface="Microsoft YaHei"/>
              </a:rPr>
              <a:t> 200 </a:t>
            </a:r>
            <a:r>
              <a:rPr lang="zh-CN" sz="825">
                <a:solidFill>
                  <a:srgbClr val="0E1B2E">
                    <a:alpha val="50000"/>
                  </a:srgbClr>
                </a:solidFill>
                <a:latin typeface="Microsoft YaHei"/>
                <a:ea typeface="Microsoft YaHei"/>
              </a:rPr>
              <a:t>行</a:t>
            </a:r>
            <a:endParaRPr/>
          </a:p>
        </p:txBody>
      </p:sp>
      <p:sp>
        <p:nvSpPr>
          <p:cNvPr id="308" name=""/>
          <p:cNvSpPr/>
          <p:nvPr/>
        </p:nvSpPr>
        <p:spPr>
          <a:xfrm rot="0" flipH="0" flipV="0">
            <a:off x="3943350" y="5924550"/>
            <a:ext cx="28575" cy="285750"/>
          </a:xfrm>
          <a:prstGeom prst="rect">
            <a:avLst/>
          </a:prstGeom>
          <a:solidFill>
            <a:srgbClr val="C8A24A"/>
          </a:solidFill>
          <a:ln/>
        </p:spPr>
        <p:txBody>
          <a:bodyPr/>
          <a:p/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4067175" y="5953125"/>
            <a:ext cx="5829300" cy="2286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38">
                <a:solidFill>
                  <a:srgbClr val="0E1B2E">
                    <a:alpha val="62000"/>
                  </a:srgbClr>
                </a:solidFill>
                <a:latin typeface="Microsoft YaHei"/>
                <a:ea typeface="Microsoft YaHei"/>
              </a:rPr>
              <a:t>实测</a:t>
            </a:r>
            <a:r>
              <a:rPr lang="en-US" sz="938">
                <a:solidFill>
                  <a:srgbClr val="0E1B2E">
                    <a:alpha val="62000"/>
                  </a:srgbClr>
                </a:solidFill>
                <a:latin typeface="Microsoft YaHei"/>
                <a:ea typeface="Microsoft YaHei"/>
              </a:rPr>
              <a:t> </a:t>
            </a:r>
            <a:r>
              <a:rPr lang="en-US" sz="938" b="1">
                <a:solidFill>
                  <a:srgbClr val="0E1B2E"/>
                </a:solidFill>
                <a:latin typeface="Microsoft YaHei"/>
                <a:ea typeface="Microsoft YaHei"/>
              </a:rPr>
              <a:t>DELETE FROM companies</a:t>
            </a:r>
            <a:r>
              <a:rPr lang="en-US" sz="938">
                <a:solidFill>
                  <a:srgbClr val="0E1B2E">
                    <a:alpha val="62000"/>
                  </a:srgbClr>
                </a:solidFill>
                <a:latin typeface="Microsoft YaHei"/>
                <a:ea typeface="Microsoft YaHei"/>
              </a:rPr>
              <a:t> </a:t>
            </a:r>
            <a:r>
              <a:rPr lang="zh-CN" sz="938">
                <a:solidFill>
                  <a:srgbClr val="0E1B2E">
                    <a:alpha val="62000"/>
                  </a:srgbClr>
                </a:solidFill>
                <a:latin typeface="Microsoft YaHei"/>
                <a:ea typeface="Microsoft YaHei"/>
              </a:rPr>
              <a:t>与</a:t>
            </a:r>
            <a:r>
              <a:rPr lang="en-US" sz="938">
                <a:solidFill>
                  <a:srgbClr val="0E1B2E">
                    <a:alpha val="62000"/>
                  </a:srgbClr>
                </a:solidFill>
                <a:latin typeface="Microsoft YaHei"/>
                <a:ea typeface="Microsoft YaHei"/>
              </a:rPr>
              <a:t> </a:t>
            </a:r>
            <a:r>
              <a:rPr lang="en-US" sz="938" b="1">
                <a:solidFill>
                  <a:srgbClr val="0E1B2E"/>
                </a:solidFill>
                <a:latin typeface="Microsoft YaHei"/>
                <a:ea typeface="Microsoft YaHei"/>
              </a:rPr>
              <a:t>SELECT * FROM mysql.user</a:t>
            </a:r>
            <a:r>
              <a:rPr lang="en-US" sz="938">
                <a:solidFill>
                  <a:srgbClr val="0E1B2E">
                    <a:alpha val="62000"/>
                  </a:srgbClr>
                </a:solidFill>
                <a:latin typeface="Microsoft YaHei"/>
                <a:ea typeface="Microsoft YaHei"/>
              </a:rPr>
              <a:t> </a:t>
            </a:r>
            <a:r>
              <a:rPr lang="zh-CN" sz="938">
                <a:solidFill>
                  <a:srgbClr val="0E1B2E">
                    <a:alpha val="62000"/>
                  </a:srgbClr>
                </a:solidFill>
                <a:latin typeface="Microsoft YaHei"/>
                <a:ea typeface="Microsoft YaHei"/>
              </a:rPr>
              <a:t>均被拦截；</a:t>
            </a:r>
            <a:r>
              <a:rPr lang="en-US" sz="938">
                <a:solidFill>
                  <a:srgbClr val="0E1B2E">
                    <a:alpha val="62000"/>
                  </a:srgbClr>
                </a:solidFill>
                <a:latin typeface="Microsoft YaHei"/>
                <a:ea typeface="Microsoft YaHei"/>
              </a:rPr>
              <a:t>12 </a:t>
            </a:r>
            <a:r>
              <a:rPr lang="zh-CN" sz="938">
                <a:solidFill>
                  <a:srgbClr val="0E1B2E">
                    <a:alpha val="62000"/>
                  </a:srgbClr>
                </a:solidFill>
                <a:latin typeface="Microsoft YaHei"/>
                <a:ea typeface="Microsoft YaHei"/>
              </a:rPr>
              <a:t>道指标题数值命中</a:t>
            </a:r>
            <a:r>
              <a:rPr lang="en-US" sz="938">
                <a:solidFill>
                  <a:srgbClr val="0E1B2E">
                    <a:alpha val="62000"/>
                  </a:srgbClr>
                </a:solidFill>
                <a:latin typeface="Microsoft YaHei"/>
                <a:ea typeface="Microsoft YaHei"/>
              </a:rPr>
              <a:t> 100%</a:t>
            </a:r>
            <a:r>
              <a:rPr lang="zh-CN" sz="938">
                <a:solidFill>
                  <a:srgbClr val="0E1B2E">
                    <a:alpha val="62000"/>
                  </a:srgbClr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685800" y="6543675"/>
            <a:ext cx="14573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0E1B2E">
                    <a:alpha val="34000"/>
                  </a:srgbClr>
                </a:solidFill>
                <a:latin typeface="Microsoft YaHei"/>
                <a:ea typeface="Microsoft YaHei"/>
              </a:rPr>
              <a:t>FinSight · </a:t>
            </a:r>
            <a:r>
              <a:rPr lang="zh-CN" sz="900">
                <a:solidFill>
                  <a:srgbClr val="0E1B2E">
                    <a:alpha val="34000"/>
                  </a:srgbClr>
                </a:solidFill>
                <a:latin typeface="Microsoft YaHei"/>
                <a:ea typeface="Microsoft YaHei"/>
              </a:rPr>
              <a:t>白酒行业智能投研</a:t>
            </a:r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11058525" y="6543675"/>
            <a:ext cx="447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0E1B2E">
                    <a:alpha val="34000"/>
                  </a:srgbClr>
                </a:solidFill>
                <a:latin typeface="Consolas"/>
                <a:ea typeface="Consolas"/>
              </a:rPr>
              <a:t>09 / 12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 xmlns:c="http://schemas.openxmlformats.org/drawingml/2006/chart">
  <p:cSld>
    <p:spTree>
      <p:nvGrpSpPr>
        <p:cNvPr id="17" name="" descr="&lt;Slide style={{&#10;    width: 1280,&#10;    height: 720,&#10;    background: '#F5F1E8',&#10;    padding: '30px 72px 18px',&#10;    flexDirection: 'column',&#10;}}&gt;&#10;    &lt;Box style={{ flexDirection: 'row', alignItems: 'flex-end', justifyContent: 'space-between', height: 76 }}&gt;&#10;        &lt;Box style={{ flexDirection: 'column' }}&gt;&#10;            &lt;Text style={{ fontSize: 34, fontWeight: 'bold', color: '#0E1B2E' }}&gt;&#10;                数字不撒谎，短板也藏不住&#10;            &lt;/Text&gt;&#10;            &lt;Text style={{ fontSize: 15, color: 'rgba(14,27,46,0.55)', marginTop: 8 }}&gt;&#10;                32 道自建评测题 · 单请求串行 · 未开 reranker&#10;            &lt;/Text&gt;&#10;        &lt;/Box&gt;&#10;        &lt;Text style={{ fontSize: 12, color: 'rgba(14,27,46,0.34)', letterSpacing: 2 }}&gt;&#10;            05 / 评测&#10;        &lt;/Text&gt;&#10;    &lt;/Box&gt;&#10;&#10;    &lt;Box style={{ flexDirection: 'row', gap: 38, marginTop: 20, flex: 1 }}&gt;&#10;        &lt;Box style={{ flex: 1.35, flexDirection: 'column' }}&gt;&#10;            &lt;Text style={{ fontSize: 12, letterSpacing: 2, color: 'rgba(14,27,46,0.42)', fontWeight: 'bold' }}&gt;&#10;                链路正确率（%，越高越好）&#10;            &lt;/Text&gt;&#10;            &lt;Box style={{ flex: 1, marginTop: 6 }}&gt;&#10;                &lt;Chart&#10;                    style={{ height: 388 }}&#10;                    chartType='barChart'&#10;                    barDirection='bar'&#10;                    grouping='clustered'&#10;                    showLegend={false}&#10;                    showDataLabels={true}&#10;                    colors={['#2F5D9E']}&#10;                    axisColor='#7b8494'&#10;                    dataLabelColor='#0E1B2E'&#10;                    background='transparent'&#10;                    data={[&#10;                        ['项目', '得分'],&#10;                        ['SQL 数值命中', 100],&#10;                        ['检索 hit@5', 95],&#10;                        ['答案关键词命中', 95],&#10;                        ['引用标注覆盖', 85],&#10;                        ['RAGAS Faithfulness', 87.8],&#10;                    ]}&#10;                /&gt;&#10;            &lt;/Box&gt;&#10;        &lt;/Box&gt;&#10;&#10;        &lt;Box style={{ flex: 1, flexDirection: 'column' }}&gt;&#10;            &lt;Text style={{ fontSize: 12, letterSpacing: 2, color: 'rgba(14,27,46,0.42)', fontWeight: 'bold' }}&gt;&#10;                RAGAS 四维打分（0–1）&#10;            &lt;/Text&gt;&#10;&#10;            &lt;Box style={{ flexDirection: 'row', flexWrap: 'wrap', gap: 10, marginTop: 12 }}&gt;&#10;                &lt;Box style={{ width: 148, background: '#FFFFFF', borderRadius: 10, padding: '12px 14px', border: '1px solid rgba(14,27,46,0.10)', flexDirection: 'column' }}&gt;&#10;                    &lt;Text style={{ fontSize: 11, color: 'rgba(14,27,46,0.5)' }}&gt;Faithfulness&lt;/Text&gt;&#10;                    &lt;Text style={{ fontSize: 25, fontWeight: 'bold', color: '#0E1B2E', fontFamily: 'Consolas', marginTop: 3 }}&gt;0.878&lt;/Text&gt;&#10;                &lt;/Box&gt;&#10;                &lt;Box style={{ width: 148, background: '#FFFFFF', borderRadius: 10, padding: '12px 14px', border: '1px solid rgba(14,27,46,0.10)', flexDirection: 'column' }}&gt;&#10;                    &lt;Text style={{ fontSize: 11, color: 'rgba(14,27,46,0.5)' }}&gt;Answer Relevancy&lt;/Text&gt;&#10;                    &lt;Text style={{ fontSize: 25, fontWeight: 'bold', color: '#0E1B2E', fontFamily: 'Consolas', marginTop: 3 }}&gt;0.928&lt;/Text&gt;&#10;                &lt;/Box&gt;&#10;                &lt;Box style={{ width: 148, background: '#FFFFFF', borderRadius: 10, padding: '12px 14px', border: '1px solid rgba(14,27,46,0.10)', flexDirection: 'column' }}&gt;&#10;                    &lt;Text style={{ fontSize: 11, color: 'rgba(14,27,46,0.5)' }}&gt;Context Precision&lt;/Text&gt;&#10;                    &lt;Text style={{ fontSize: 25, fontWeight: 'bold', color: '#0E1B2E', fontFamily: 'Consolas', marginTop: 3 }}&gt;0.755&lt;/Text&gt;&#10;                &lt;/Box&gt;&#10;                &lt;Box style={{ width: 148, background: 'rgba(200,162,74,0.14)', borderRadius: 10, padding: '12px 14px', border: '1px solid rgba(200,162,74,0.55)', flexDirection: 'column' }}&gt;&#10;                    &lt;Text style={{ fontSize: 11, color: 'rgba(14,27,46,0.6)' }}&gt;Context Recall&lt;/Text&gt;&#10;                    &lt;Text style={{ fontSize: 25, fontWeight: 'bold', color: '#8a6b1f', fontFamily: 'Consolas', marginTop: 3 }}&gt;0.636&lt;/Text&gt;&#10;                &lt;/Box&gt;&#10;            &lt;/Box&gt;&#10;&#10;            &lt;Box style={{ marginTop: 16, background: '#0E1B2E', borderRadius: 12, padding: '16px 18px', flexDirection: 'column' }}&gt;&#10;                &lt;Text style={{ fontSize: 13.5, fontWeight: 'bold', color: '#C8A24A' }}&gt;&#10;                    瓶颈在检索，不在模型&#10;                &lt;/Text&gt;&#10;                &lt;Text style={{ fontSize: 12.5, color: 'rgba(245,241,232,0.72)', marginTop: 8, lineHeight: 1.7 }}&gt;&#10;                    生成层 Faithfulness 0.878 已够用；Context Recall 0.636 说明该捞的原文没捞全 —— 下一步做章节偏好检索，而不是换更大的模型。&#10;                &lt;/Text&gt;&#10;            &lt;/Box&gt;&#10;&#10;            &lt;Text style={{ fontSize: 11, color: 'rgba(14,27,46,0.4)', marginTop: 'auto', lineHeight: 1.65 }}&gt;&#10;                局限：自建 32 题小样本、单请求串行、CPU 未开 reranker（单次 30–60s）。&#10;            &lt;/Text&gt;&#10;        &lt;/Box&gt;&#10;    &lt;/Box&gt;&#10;&#10;    &lt;Box style={{ height: 32, flexDirection: 'row', justifyContent: 'space-between', alignItems: 'flex-end' }}&gt;&#10;        &lt;Text style={{ fontSize: 12, color: 'rgba(14,27,46,0.34)' }}&gt;FinSight · 白酒行业智能投研&lt;/Text&gt;&#10;        &lt;Text style={{ fontSize: 12, color: 'rgba(14,27,46,0.34)', fontFamily: 'Consolas' }}&gt;10 / 12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/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685800" y="371475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1B2E"/>
                </a:solidFill>
                <a:latin typeface="Microsoft YaHei"/>
                <a:ea typeface="Microsoft YaHei"/>
              </a:rPr>
              <a:t>数字不撒谎，短板也藏不住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685800" y="838200"/>
            <a:ext cx="3886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0E1B2E">
                    <a:alpha val="55000"/>
                  </a:srgbClr>
                </a:solidFill>
                <a:latin typeface="Microsoft YaHei"/>
                <a:ea typeface="Microsoft YaHei"/>
              </a:rPr>
              <a:t>32 </a:t>
            </a:r>
            <a:r>
              <a:rPr lang="zh-CN" sz="1125">
                <a:solidFill>
                  <a:srgbClr val="0E1B2E">
                    <a:alpha val="55000"/>
                  </a:srgbClr>
                </a:solidFill>
                <a:latin typeface="Microsoft YaHei"/>
                <a:ea typeface="Microsoft YaHei"/>
              </a:rPr>
              <a:t>道自建评测题</a:t>
            </a:r>
            <a:r>
              <a:rPr lang="en-US" sz="1125">
                <a:solidFill>
                  <a:srgbClr val="0E1B2E">
                    <a:alpha val="5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0E1B2E">
                    <a:alpha val="55000"/>
                  </a:srgbClr>
                </a:solidFill>
                <a:latin typeface="Microsoft YaHei"/>
                <a:ea typeface="Microsoft YaHei"/>
              </a:rPr>
              <a:t>单请求串行</a:t>
            </a:r>
            <a:r>
              <a:rPr lang="en-US" sz="1125">
                <a:solidFill>
                  <a:srgbClr val="0E1B2E">
                    <a:alpha val="5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0E1B2E">
                    <a:alpha val="55000"/>
                  </a:srgbClr>
                </a:solidFill>
                <a:latin typeface="Microsoft YaHei"/>
                <a:ea typeface="Microsoft YaHei"/>
              </a:rPr>
              <a:t>未开</a:t>
            </a:r>
            <a:r>
              <a:rPr lang="en-US" sz="1125">
                <a:solidFill>
                  <a:srgbClr val="0E1B2E">
                    <a:alpha val="55000"/>
                  </a:srgbClr>
                </a:solidFill>
                <a:latin typeface="Microsoft YaHei"/>
                <a:ea typeface="Microsoft YaHei"/>
              </a:rPr>
              <a:t> reranker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10887075" y="866775"/>
            <a:ext cx="6191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0E1B2E">
                    <a:alpha val="34000"/>
                  </a:srgbClr>
                </a:solidFill>
                <a:latin typeface="Microsoft YaHei"/>
                <a:ea typeface="Microsoft YaHei"/>
              </a:rPr>
              <a:t>05 / </a:t>
            </a:r>
            <a:r>
              <a:rPr lang="zh-CN" sz="900" spc="150">
                <a:solidFill>
                  <a:srgbClr val="0E1B2E">
                    <a:alpha val="34000"/>
                  </a:srgbClr>
                </a:solidFill>
                <a:latin typeface="Microsoft YaHei"/>
                <a:ea typeface="Microsoft YaHei"/>
              </a:rPr>
              <a:t>评测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685800" y="1200150"/>
            <a:ext cx="6010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 spc="150">
                <a:solidFill>
                  <a:srgbClr val="0E1B2E">
                    <a:alpha val="42000"/>
                  </a:srgbClr>
                </a:solidFill>
                <a:latin typeface="Microsoft YaHei"/>
                <a:ea typeface="Microsoft YaHei"/>
              </a:rPr>
              <a:t>链路正确率（</a:t>
            </a:r>
            <a:r>
              <a:rPr lang="en-US" sz="900" b="1" spc="150">
                <a:solidFill>
                  <a:srgbClr val="0E1B2E">
                    <a:alpha val="42000"/>
                  </a:srgbClr>
                </a:solidFill>
                <a:latin typeface="Microsoft YaHei"/>
                <a:ea typeface="Microsoft YaHei"/>
              </a:rPr>
              <a:t>%</a:t>
            </a:r>
            <a:r>
              <a:rPr lang="zh-CN" sz="900" b="1" spc="150">
                <a:solidFill>
                  <a:srgbClr val="0E1B2E">
                    <a:alpha val="42000"/>
                  </a:srgbClr>
                </a:solidFill>
                <a:latin typeface="Microsoft YaHei"/>
                <a:ea typeface="Microsoft YaHei"/>
              </a:rPr>
              <a:t>，越高越好）</a:t>
            </a:r>
            <a:endParaRPr/>
          </a:p>
        </p:txBody>
      </p:sp>
      <p:graphicFrame>
        <p:nvGraphicFramePr>
          <p:cNvPr id="23" name="23"/>
          <p:cNvGraphicFramePr/>
          <p:nvPr/>
        </p:nvGraphicFramePr>
        <p:xfrm rot="0" flipH="0" flipV="0">
          <a:off x="685800" y="1400175"/>
          <a:ext cx="6010275" cy="3695700"/>
        </p:xfrm>
        <a:graphic>
          <a:graphicData uri="http://schemas.openxmlformats.org/drawingml/2006/chart">
            <c:chart r:id="rId0"/>
          </a:graphicData>
        </a:graphic>
      </p:graphicFrame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7058025" y="1200150"/>
            <a:ext cx="44481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150">
                <a:solidFill>
                  <a:srgbClr val="0E1B2E">
                    <a:alpha val="42000"/>
                  </a:srgbClr>
                </a:solidFill>
                <a:latin typeface="Microsoft YaHei"/>
                <a:ea typeface="Microsoft YaHei"/>
              </a:rPr>
              <a:t>RAGAS </a:t>
            </a:r>
            <a:r>
              <a:rPr lang="zh-CN" sz="900" b="1" spc="150">
                <a:solidFill>
                  <a:srgbClr val="0E1B2E">
                    <a:alpha val="42000"/>
                  </a:srgbClr>
                </a:solidFill>
                <a:latin typeface="Microsoft YaHei"/>
                <a:ea typeface="Microsoft YaHei"/>
              </a:rPr>
              <a:t>四维打分（</a:t>
            </a:r>
            <a:r>
              <a:rPr lang="en-US" sz="900" b="1" spc="150">
                <a:solidFill>
                  <a:srgbClr val="0E1B2E">
                    <a:alpha val="42000"/>
                  </a:srgbClr>
                </a:solidFill>
                <a:latin typeface="Microsoft YaHei"/>
                <a:ea typeface="Microsoft YaHei"/>
              </a:rPr>
              <a:t>0–1</a:t>
            </a:r>
            <a:r>
              <a:rPr lang="zh-CN" sz="900" b="1" spc="150">
                <a:solidFill>
                  <a:srgbClr val="0E1B2E">
                    <a:alpha val="42000"/>
                  </a:srgbClr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7058025" y="1457325"/>
            <a:ext cx="1409700" cy="676275"/>
          </a:xfrm>
          <a:prstGeom prst="roundRect">
            <a:avLst>
              <a:gd name="adj" fmla="val 14085"/>
            </a:avLst>
          </a:prstGeom>
          <a:solidFill>
            <a:srgbClr val="FFFFFF"/>
          </a:solidFill>
          <a:ln w="12700">
            <a:solidFill>
              <a:srgbClr val="0E1B2E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7191375" y="1571625"/>
            <a:ext cx="11430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0E1B2E">
                    <a:alpha val="50000"/>
                  </a:srgbClr>
                </a:solidFill>
                <a:latin typeface="Microsoft YaHei"/>
                <a:ea typeface="Microsoft YaHei"/>
              </a:rPr>
              <a:t>Faithfulness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7191375" y="1733550"/>
            <a:ext cx="11430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75" b="1">
                <a:solidFill>
                  <a:srgbClr val="0E1B2E"/>
                </a:solidFill>
                <a:latin typeface="Consolas"/>
                <a:ea typeface="Consolas"/>
              </a:rPr>
              <a:t>0.878</a:t>
            </a:r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8562975" y="1457325"/>
            <a:ext cx="1409700" cy="676275"/>
          </a:xfrm>
          <a:prstGeom prst="roundRect">
            <a:avLst>
              <a:gd name="adj" fmla="val 14085"/>
            </a:avLst>
          </a:prstGeom>
          <a:solidFill>
            <a:srgbClr val="FFFFFF"/>
          </a:solidFill>
          <a:ln w="12700">
            <a:solidFill>
              <a:srgbClr val="0E1B2E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8696325" y="1571625"/>
            <a:ext cx="11430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0E1B2E">
                    <a:alpha val="50000"/>
                  </a:srgbClr>
                </a:solidFill>
                <a:latin typeface="Microsoft YaHei"/>
                <a:ea typeface="Microsoft YaHei"/>
              </a:rPr>
              <a:t>Answer Relevancy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8696325" y="1733550"/>
            <a:ext cx="11430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75" b="1">
                <a:solidFill>
                  <a:srgbClr val="0E1B2E"/>
                </a:solidFill>
                <a:latin typeface="Consolas"/>
                <a:ea typeface="Consolas"/>
              </a:rPr>
              <a:t>0.928</a:t>
            </a:r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10067925" y="1457325"/>
            <a:ext cx="1409700" cy="676275"/>
          </a:xfrm>
          <a:prstGeom prst="roundRect">
            <a:avLst>
              <a:gd name="adj" fmla="val 14085"/>
            </a:avLst>
          </a:prstGeom>
          <a:solidFill>
            <a:srgbClr val="FFFFFF"/>
          </a:solidFill>
          <a:ln w="12700">
            <a:solidFill>
              <a:srgbClr val="0E1B2E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10201275" y="1571625"/>
            <a:ext cx="11430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0E1B2E">
                    <a:alpha val="50000"/>
                  </a:srgbClr>
                </a:solidFill>
                <a:latin typeface="Microsoft YaHei"/>
                <a:ea typeface="Microsoft YaHei"/>
              </a:rPr>
              <a:t>Context Precision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10201275" y="1733550"/>
            <a:ext cx="11430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75" b="1">
                <a:solidFill>
                  <a:srgbClr val="0E1B2E"/>
                </a:solidFill>
                <a:latin typeface="Consolas"/>
                <a:ea typeface="Consolas"/>
              </a:rPr>
              <a:t>0.755</a:t>
            </a:r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7058025" y="2228850"/>
            <a:ext cx="1409700" cy="676275"/>
          </a:xfrm>
          <a:prstGeom prst="roundRect">
            <a:avLst>
              <a:gd name="adj" fmla="val 14085"/>
            </a:avLst>
          </a:prstGeom>
          <a:solidFill>
            <a:srgbClr val="C8A24A">
              <a:alpha val="14000"/>
            </a:srgbClr>
          </a:solidFill>
          <a:ln w="12700">
            <a:solidFill>
              <a:srgbClr val="C8A24A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7191375" y="2343150"/>
            <a:ext cx="11430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0E1B2E">
                    <a:alpha val="60000"/>
                  </a:srgbClr>
                </a:solidFill>
                <a:latin typeface="Microsoft YaHei"/>
                <a:ea typeface="Microsoft YaHei"/>
              </a:rPr>
              <a:t>Context Recall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7191375" y="2505075"/>
            <a:ext cx="11430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75" b="1">
                <a:solidFill>
                  <a:srgbClr val="8A6B1F"/>
                </a:solidFill>
                <a:latin typeface="Consolas"/>
                <a:ea typeface="Consolas"/>
              </a:rPr>
              <a:t>0.636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7058025" y="3057525"/>
            <a:ext cx="4448175" cy="1028700"/>
          </a:xfrm>
          <a:prstGeom prst="roundRect">
            <a:avLst>
              <a:gd name="adj" fmla="val 11111"/>
            </a:avLst>
          </a:prstGeom>
          <a:solidFill>
            <a:srgbClr val="0E1B2E"/>
          </a:solidFill>
          <a:ln/>
        </p:spPr>
        <p:txBody>
          <a:bodyPr/>
          <a:p/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7229475" y="3209925"/>
            <a:ext cx="4105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C8A24A"/>
                </a:solidFill>
                <a:latin typeface="Microsoft YaHei"/>
                <a:ea typeface="Microsoft YaHei"/>
              </a:rPr>
              <a:t>瓶颈在检索，不在模型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7229475" y="3448050"/>
            <a:ext cx="4105275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38">
                <a:solidFill>
                  <a:srgbClr val="F5F1E8">
                    <a:alpha val="72000"/>
                  </a:srgbClr>
                </a:solidFill>
                <a:latin typeface="Microsoft YaHei"/>
                <a:ea typeface="Microsoft YaHei"/>
              </a:rPr>
              <a:t>生成层</a:t>
            </a:r>
            <a:r>
              <a:rPr lang="en-US" sz="938">
                <a:solidFill>
                  <a:srgbClr val="F5F1E8">
                    <a:alpha val="72000"/>
                  </a:srgbClr>
                </a:solidFill>
                <a:latin typeface="Microsoft YaHei"/>
                <a:ea typeface="Microsoft YaHei"/>
              </a:rPr>
              <a:t> Faithfulness 0.878 </a:t>
            </a:r>
            <a:r>
              <a:rPr lang="zh-CN" sz="938">
                <a:solidFill>
                  <a:srgbClr val="F5F1E8">
                    <a:alpha val="72000"/>
                  </a:srgbClr>
                </a:solidFill>
                <a:latin typeface="Microsoft YaHei"/>
                <a:ea typeface="Microsoft YaHei"/>
              </a:rPr>
              <a:t>已够用；</a:t>
            </a:r>
            <a:r>
              <a:rPr lang="en-US" sz="938">
                <a:solidFill>
                  <a:srgbClr val="F5F1E8">
                    <a:alpha val="72000"/>
                  </a:srgbClr>
                </a:solidFill>
                <a:latin typeface="Microsoft YaHei"/>
                <a:ea typeface="Microsoft YaHei"/>
              </a:rPr>
              <a:t>Context Recall 0.636 </a:t>
            </a:r>
            <a:r>
              <a:rPr lang="zh-CN" sz="938">
                <a:solidFill>
                  <a:srgbClr val="F5F1E8">
                    <a:alpha val="72000"/>
                  </a:srgbClr>
                </a:solidFill>
                <a:latin typeface="Microsoft YaHei"/>
                <a:ea typeface="Microsoft YaHei"/>
              </a:rPr>
              <a:t>说明该捞的原文没捞全</a:t>
            </a:r>
            <a:r>
              <a:rPr lang="en-US" sz="938">
                <a:solidFill>
                  <a:srgbClr val="F5F1E8">
                    <a:alpha val="72000"/>
                  </a:srgbClr>
                </a:solidFill>
                <a:latin typeface="Microsoft YaHei"/>
                <a:ea typeface="Microsoft YaHei"/>
              </a:rPr>
              <a:t> —— </a:t>
            </a:r>
            <a:r>
              <a:rPr lang="zh-CN" sz="938">
                <a:solidFill>
                  <a:srgbClr val="F5F1E8">
                    <a:alpha val="72000"/>
                  </a:srgbClr>
                </a:solidFill>
                <a:latin typeface="Microsoft YaHei"/>
                <a:ea typeface="Microsoft YaHei"/>
              </a:rPr>
              <a:t>下一步做章节偏好检索，而不是换更大的模型。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7058025" y="6172200"/>
            <a:ext cx="4448175" cy="2095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825">
                <a:solidFill>
                  <a:srgbClr val="0E1B2E">
                    <a:alpha val="40000"/>
                  </a:srgbClr>
                </a:solidFill>
                <a:latin typeface="Microsoft YaHei"/>
                <a:ea typeface="Microsoft YaHei"/>
              </a:rPr>
              <a:t>局限：自建</a:t>
            </a:r>
            <a:r>
              <a:rPr lang="en-US" sz="825">
                <a:solidFill>
                  <a:srgbClr val="0E1B2E">
                    <a:alpha val="40000"/>
                  </a:srgbClr>
                </a:solidFill>
                <a:latin typeface="Microsoft YaHei"/>
                <a:ea typeface="Microsoft YaHei"/>
              </a:rPr>
              <a:t> 32 </a:t>
            </a:r>
            <a:r>
              <a:rPr lang="zh-CN" sz="825">
                <a:solidFill>
                  <a:srgbClr val="0E1B2E">
                    <a:alpha val="40000"/>
                  </a:srgbClr>
                </a:solidFill>
                <a:latin typeface="Microsoft YaHei"/>
                <a:ea typeface="Microsoft YaHei"/>
              </a:rPr>
              <a:t>题小样本、单请求串行、</a:t>
            </a:r>
            <a:r>
              <a:rPr lang="en-US" sz="825">
                <a:solidFill>
                  <a:srgbClr val="0E1B2E">
                    <a:alpha val="40000"/>
                  </a:srgbClr>
                </a:solidFill>
                <a:latin typeface="Microsoft YaHei"/>
                <a:ea typeface="Microsoft YaHei"/>
              </a:rPr>
              <a:t>CPU </a:t>
            </a:r>
            <a:r>
              <a:rPr lang="zh-CN" sz="825">
                <a:solidFill>
                  <a:srgbClr val="0E1B2E">
                    <a:alpha val="40000"/>
                  </a:srgbClr>
                </a:solidFill>
                <a:latin typeface="Microsoft YaHei"/>
                <a:ea typeface="Microsoft YaHei"/>
              </a:rPr>
              <a:t>未开</a:t>
            </a:r>
            <a:r>
              <a:rPr lang="en-US" sz="825">
                <a:solidFill>
                  <a:srgbClr val="0E1B2E">
                    <a:alpha val="40000"/>
                  </a:srgbClr>
                </a:solidFill>
                <a:latin typeface="Microsoft YaHei"/>
                <a:ea typeface="Microsoft YaHei"/>
              </a:rPr>
              <a:t> reranker</a:t>
            </a:r>
            <a:r>
              <a:rPr lang="zh-CN" sz="825">
                <a:solidFill>
                  <a:srgbClr val="0E1B2E">
                    <a:alpha val="40000"/>
                  </a:srgbClr>
                </a:solidFill>
                <a:latin typeface="Microsoft YaHei"/>
                <a:ea typeface="Microsoft YaHei"/>
              </a:rPr>
              <a:t>（单次</a:t>
            </a:r>
            <a:r>
              <a:rPr lang="en-US" sz="825">
                <a:solidFill>
                  <a:srgbClr val="0E1B2E">
                    <a:alpha val="40000"/>
                  </a:srgbClr>
                </a:solidFill>
                <a:latin typeface="Microsoft YaHei"/>
                <a:ea typeface="Microsoft YaHei"/>
              </a:rPr>
              <a:t> 30–60s</a:t>
            </a:r>
            <a:r>
              <a:rPr lang="zh-CN" sz="825">
                <a:solidFill>
                  <a:srgbClr val="0E1B2E">
                    <a:alpha val="40000"/>
                  </a:srgbClr>
                </a:solidFill>
                <a:latin typeface="Microsoft YaHei"/>
                <a:ea typeface="Microsoft YaHei"/>
              </a:rPr>
              <a:t>）。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685800" y="6543675"/>
            <a:ext cx="14573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0E1B2E">
                    <a:alpha val="34000"/>
                  </a:srgbClr>
                </a:solidFill>
                <a:latin typeface="Microsoft YaHei"/>
                <a:ea typeface="Microsoft YaHei"/>
              </a:rPr>
              <a:t>FinSight · </a:t>
            </a:r>
            <a:r>
              <a:rPr lang="zh-CN" sz="900">
                <a:solidFill>
                  <a:srgbClr val="0E1B2E">
                    <a:alpha val="34000"/>
                  </a:srgbClr>
                </a:solidFill>
                <a:latin typeface="Microsoft YaHei"/>
                <a:ea typeface="Microsoft YaHei"/>
              </a:rPr>
              <a:t>白酒行业智能投研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11058525" y="6543675"/>
            <a:ext cx="447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0E1B2E">
                    <a:alpha val="34000"/>
                  </a:srgbClr>
                </a:solidFill>
                <a:latin typeface="Consolas"/>
                <a:ea typeface="Consolas"/>
              </a:rPr>
              <a:t>10 / 12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43" name="" descr="&lt;Slide style={{&#10;    width: 1280,&#10;    height: 720,&#10;    background: '#F5F1E8',&#10;    padding: '30px 72px 18px',&#10;    flexDirection: 'column',&#10;}}&gt;&#10;    &lt;Box style={{ flexDirection: 'row', alignItems: 'flex-end', justifyContent: 'space-between', height: 76 }}&gt;&#10;        &lt;Box style={{ flexDirection: 'column' }}&gt;&#10;            &lt;Text style={{ fontSize: 34, fontWeight: 'bold', color: '#0E1B2E' }}&gt;&#10;                四次返工，都不是模型不行&#10;            &lt;/Text&gt;&#10;            &lt;Text style={{ fontSize: 15, color: 'rgba(14,27,46,0.55)', marginTop: 8 }}&gt;&#10;                复用旧项目的代价：上下文污染，而不是能力不足&#10;            &lt;/Text&gt;&#10;        &lt;/Box&gt;&#10;        &lt;Text style={{ fontSize: 12, color: 'rgba(14,27,46,0.34)', letterSpacing: 2 }}&gt;&#10;            06 / 踩坑&#10;        &lt;/Text&gt;&#10;    &lt;/Box&gt;&#10;&#10;    &lt;Box style={{ flexDirection: 'row', gap: 14, marginTop: 24, flex: 1 }}&gt;&#10;        &lt;Box style={{ flex: 1, background: '#FFFFFF', borderRadius: 12, padding: '18px 16px', border: '1px solid rgba(14,27,46,0.10)', flexDirection: 'column' }}&gt;&#10;            &lt;Text style={{ fontSize: 22, fontWeight: 'bold', color: '#C8A24A', fontFamily: 'Consolas', lineHeight: 1 }}&gt;01&lt;/Text&gt;&#10;            &lt;Text style={{ fontSize: 13.5, fontWeight: 'bold', color: '#0E1B2E', marginTop: 12, lineHeight: 1.5 }}&gt;&#10;                用「CSS 样式修改」回答白酒问题&#10;            &lt;/Text&gt;&#10;            &lt;Box style={{ height: 1, background: 'rgba(14,27,46,0.09)', margin: '12px 0' }} /&gt;&#10;            &lt;Text style={{ fontSize: 11.5, color: 'rgba(14,27,46,0.5)', lineHeight: 1.65 }}&gt;&#10;                共享 Redis 里残留旧项目的教育客服题库，快路径直接命中。&#10;            &lt;/Text&gt;&#10;            &lt;Box style={{ flexDirection: 'row', alignItems: 'center', gap: 6, marginTop: 'auto', paddingTop: 12 }}&gt;&#10;                &lt;Text style={{ fontSize: 10, color: '#2F5D9E', fontWeight: 'bold' }}&gt;改法&lt;/Text&gt;&#10;                &lt;Text style={{ fontSize: 11.5, color: 'rgba(14,27,46,0.72)', flex: 1 }}&gt;&#10;                    关闭 FAQ 快路径&#10;                &lt;/Text&gt;&#10;            &lt;/Box&gt;&#10;        &lt;/Box&gt;&#10;&#10;        &lt;Box style={{ flex: 1, background: '#FFFFFF', borderRadius: 12, padding: '18px 16px', border: '1px solid rgba(14,27,46,0.10)', flexDirection: 'column' }}&gt;&#10;            &lt;Text style={{ fontSize: 22, fontWeight: 'bold', color: '#C8A24A', fontFamily: 'Consolas', lineHeight: 1 }}&gt;02&lt;/Text&gt;&#10;            &lt;Text style={{ fontSize: 13.5, fontWeight: 'bold', color: '#0E1B2E', marginTop: 12, lineHeight: 1.5 }}&gt;&#10;                文档题永远不检索&#10;            &lt;/Text&gt;&#10;            &lt;Box style={{ height: 1, background: 'rgba(14,27,46,0.09)', margin: '12px 0' }} /&gt;&#10;            &lt;Text style={{ fontSize: 11.5, color: 'rgba(14,27,46,0.5)', lineHeight: 1.65 }}&gt;&#10;                旧 BERT 分类器把「年报里提到了什么」判为通用知识，直接交给模型编。&#10;            &lt;/Text&gt;&#10;            &lt;Box style={{ flexDirection: 'row', alignItems: 'center', gap: 6, marginTop: 'auto', paddingTop: 12 }}&gt;&#10;                &lt;Text style={{ fontSize: 10, color: '#2F5D9E', fontWeight: 'bold' }}&gt;改法&lt;/Text&gt;&#10;                &lt;Text style={{ fontSize: 11.5, color: 'rgba(14,27,46,0.72)', flex: 1 }}&gt;&#10;                    强制检索开关&#10;                &lt;/Text&gt;&#10;            &lt;/Box&gt;&#10;        &lt;/Box&gt;&#10;&#10;        &lt;Box style={{ flex: 1, background: '#FFFFFF', borderRadius: 12, padding: '18px 16px', border: '1px solid rgba(14,27,46,0.10)', flexDirection: 'column' }}&gt;&#10;            &lt;Text style={{ fontSize: 22, fontWeight: 'bold', color: '#C8A24A', fontFamily: 'Consolas', lineHeight: 1 }}&gt;03&lt;/Text&gt;&#10;            &lt;Text style={{ fontSize: 13.5, fontWeight: 'bold', color: '#0E1B2E', marginTop: 12, lineHeight: 1.5 }}&gt;&#10;                关键词召回不到&#10;            &lt;/Text&gt;&#10;            &lt;Box style={{ height: 1, background: 'rgba(14,27,46,0.09)', margin: '12px 0' }} /&gt;&#10;            &lt;Text style={{ fontSize: 11.5, color: 'rgba(14,27,46,0.5)', lineHeight: 1.65 }}&gt;&#10;                「渠道库存」「经营风险」这类词，向量空间里找不到对应段落。&#10;            &lt;/Text&gt;&#10;            &lt;Box style={{ flexDirection: 'row', alignItems: 'center', gap: 6, marginTop: 'auto', paddingTop: 12 }}&gt;&#10;                &lt;Text style={{ fontSize: 10, color: '#2F5D9E', fontWeight: 'bold' }}&gt;改法&lt;/Text&gt;&#10;                &lt;Text style={{ fontSize: 11.5, color: 'rgba(14,27,46,0.72)', flex: 1 }}&gt;&#10;                    BM25 + RRF 融合&#10;                &lt;/Text&gt;&#10;            &lt;/Box&gt;&#10;        &lt;/Box&gt;&#10;&#10;        &lt;Box style={{ flex: 1, background: '#FFFFFF', borderRadius: 12, padding: '18px 16px', border: '1px solid rgba(14,27,46,0.10)', flexDirection: 'column' }}&gt;&#10;            &lt;Text style={{ fontSize: 22, fontWeight: 'bold', color: '#C8A24A', fontFamily: 'Consolas', lineHeight: 1 }}&gt;04&lt;/Text&gt;&#10;            &lt;Text style={{ fontSize: 13.5, fontWeight: 'bold', color: '#0E1B2E', marginTop: 12, lineHeight: 1.5 }}&gt;&#10;                引用翻到隔壁章节&#10;            &lt;/Text&gt;&#10;            &lt;Box style={{ height: 1, background: 'rgba(14,27,46,0.09)', margin: '12px 0' }} /&gt;&#10;            &lt;Text style={{ fontSize: 11.5, color: 'rgba(14,27,46,0.5)', lineHeight: 1.65 }}&gt;&#10;                年报「一页拆多节」，父窗口起止跨了章节，页码对不上。&#10;            &lt;/Text&gt;&#10;            &lt;Box style={{ flexDirection: 'row', alignItems: 'center', gap: 6, marginTop: 'auto', paddingTop: 12 }}&gt;&#10;                &lt;Text style={{ fontSize: 10, color: '#2F5D9E', fontWeight: 'bold' }}&gt;改法&lt;/Text&gt;&#10;                &lt;Text style={{ fontSize: 11.5, color: 'rgba(14,27,46,0.72)', flex: 1 }}&gt;&#10;                    命中时回退子块&#10;                &lt;/Text&gt;&#10;            &lt;/Box&gt;&#10;        &lt;/Box&gt;&#10;    &lt;/Box&gt;&#10;&#10;    &lt;Box style={{ flexDirection: 'row', alignItems: 'center', gap: 12, marginTop: 20 }}&gt;&#10;        &lt;Box style={{ width: 3, height: 32, background: '#C8A24A' }} /&gt;&#10;        &lt;Text style={{ fontSize: 13.5, color: 'rgba(14,27,46,0.62)', lineHeight: 1.6 }}&gt;&#10;            四次故障的共同点：都不是推理能力问题，而是「以为在复用，实际在继承别人的上下文」。&#10;        &lt;/Text&gt;&#10;    &lt;/Box&gt;&#10;&#10;    &lt;Box style={{ height: 32, flexDirection: 'row', justifyContent: 'space-between', alignItems: 'flex-end' }}&gt;&#10;        &lt;Text style={{ fontSize: 12, color: 'rgba(14,27,46,0.34)' }}&gt;FinSight · 白酒行业智能投研&lt;/Text&gt;&#10;        &lt;Text style={{ fontSize: 12, color: 'rgba(14,27,46,0.34)', fontFamily: 'Consolas' }}&gt;11 / 12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685800" y="371475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1B2E"/>
                </a:solidFill>
                <a:latin typeface="Microsoft YaHei"/>
                <a:ea typeface="Microsoft YaHei"/>
              </a:rPr>
              <a:t>四次返工，都不是模型不行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685800" y="838200"/>
            <a:ext cx="3886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0E1B2E">
                    <a:alpha val="55000"/>
                  </a:srgbClr>
                </a:solidFill>
                <a:latin typeface="Microsoft YaHei"/>
                <a:ea typeface="Microsoft YaHei"/>
              </a:rPr>
              <a:t>复用旧项目的代价：上下文污染，而不是能力不足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10887075" y="866775"/>
            <a:ext cx="6191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0E1B2E">
                    <a:alpha val="34000"/>
                  </a:srgbClr>
                </a:solidFill>
                <a:latin typeface="Microsoft YaHei"/>
                <a:ea typeface="Microsoft YaHei"/>
              </a:rPr>
              <a:t>06 / </a:t>
            </a:r>
            <a:r>
              <a:rPr lang="zh-CN" sz="900" spc="150">
                <a:solidFill>
                  <a:srgbClr val="0E1B2E">
                    <a:alpha val="34000"/>
                  </a:srgbClr>
                </a:solidFill>
                <a:latin typeface="Microsoft YaHei"/>
                <a:ea typeface="Microsoft YaHei"/>
              </a:rPr>
              <a:t>踩坑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685800" y="1238250"/>
            <a:ext cx="2609850" cy="4648200"/>
          </a:xfrm>
          <a:prstGeom prst="roundRect">
            <a:avLst>
              <a:gd name="adj" fmla="val 4380"/>
            </a:avLst>
          </a:prstGeom>
          <a:solidFill>
            <a:srgbClr val="FFFFFF"/>
          </a:solidFill>
          <a:ln w="12700">
            <a:solidFill>
              <a:srgbClr val="0E1B2E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838200" y="1409700"/>
            <a:ext cx="23050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C8A24A"/>
                </a:solidFill>
                <a:latin typeface="Consolas"/>
                <a:ea typeface="Consolas"/>
              </a:rPr>
              <a:t>01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838200" y="1781175"/>
            <a:ext cx="2305050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 b="1">
                <a:solidFill>
                  <a:srgbClr val="0E1B2E"/>
                </a:solidFill>
                <a:latin typeface="Microsoft YaHei"/>
                <a:ea typeface="Microsoft YaHei"/>
              </a:rPr>
              <a:t>用「</a:t>
            </a:r>
            <a:r>
              <a:rPr lang="en-US" sz="1013" b="1">
                <a:solidFill>
                  <a:srgbClr val="0E1B2E"/>
                </a:solidFill>
                <a:latin typeface="Microsoft YaHei"/>
                <a:ea typeface="Microsoft YaHei"/>
              </a:rPr>
              <a:t>CSS </a:t>
            </a:r>
            <a:r>
              <a:rPr lang="zh-CN" sz="1013" b="1">
                <a:solidFill>
                  <a:srgbClr val="0E1B2E"/>
                </a:solidFill>
                <a:latin typeface="Microsoft YaHei"/>
                <a:ea typeface="Microsoft YaHei"/>
              </a:rPr>
              <a:t>样式修改」回答白酒问题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838200" y="2133600"/>
            <a:ext cx="2305050" cy="9525"/>
          </a:xfrm>
          <a:prstGeom prst="rect">
            <a:avLst/>
          </a:prstGeom>
          <a:solidFill>
            <a:srgbClr val="0E1B2E">
              <a:alpha val="9000"/>
            </a:srgbClr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838200" y="2257425"/>
            <a:ext cx="2305050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863">
                <a:solidFill>
                  <a:srgbClr val="0E1B2E">
                    <a:alpha val="50000"/>
                  </a:srgbClr>
                </a:solidFill>
                <a:latin typeface="Microsoft YaHei"/>
                <a:ea typeface="Microsoft YaHei"/>
              </a:rPr>
              <a:t>共享</a:t>
            </a:r>
            <a:r>
              <a:rPr lang="en-US" sz="863">
                <a:solidFill>
                  <a:srgbClr val="0E1B2E">
                    <a:alpha val="50000"/>
                  </a:srgbClr>
                </a:solidFill>
                <a:latin typeface="Microsoft YaHei"/>
                <a:ea typeface="Microsoft YaHei"/>
              </a:rPr>
              <a:t> Redis </a:t>
            </a:r>
            <a:r>
              <a:rPr lang="zh-CN" sz="863">
                <a:solidFill>
                  <a:srgbClr val="0E1B2E">
                    <a:alpha val="50000"/>
                  </a:srgbClr>
                </a:solidFill>
                <a:latin typeface="Microsoft YaHei"/>
                <a:ea typeface="Microsoft YaHei"/>
              </a:rPr>
              <a:t>里残留旧项目的教育客服题库，快路径直接命中。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838200" y="5591175"/>
            <a:ext cx="1905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2F5D9E"/>
                </a:solidFill>
                <a:latin typeface="Microsoft YaHei"/>
                <a:ea typeface="Microsoft YaHei"/>
              </a:rPr>
              <a:t>改法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1085850" y="5581650"/>
            <a:ext cx="20574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0E1B2E">
                    <a:alpha val="72000"/>
                  </a:srgbClr>
                </a:solidFill>
                <a:latin typeface="Microsoft YaHei"/>
                <a:ea typeface="Microsoft YaHei"/>
              </a:rPr>
              <a:t>关闭</a:t>
            </a:r>
            <a:r>
              <a:rPr lang="en-US" sz="863">
                <a:solidFill>
                  <a:srgbClr val="0E1B2E">
                    <a:alpha val="72000"/>
                  </a:srgbClr>
                </a:solidFill>
                <a:latin typeface="Microsoft YaHei"/>
                <a:ea typeface="Microsoft YaHei"/>
              </a:rPr>
              <a:t> FAQ </a:t>
            </a:r>
            <a:r>
              <a:rPr lang="zh-CN" sz="863">
                <a:solidFill>
                  <a:srgbClr val="0E1B2E">
                    <a:alpha val="72000"/>
                  </a:srgbClr>
                </a:solidFill>
                <a:latin typeface="Microsoft YaHei"/>
                <a:ea typeface="Microsoft YaHei"/>
              </a:rPr>
              <a:t>快路径</a:t>
            </a:r>
            <a:endParaRPr/>
          </a:p>
        </p:txBody>
      </p:sp>
      <p:sp>
        <p:nvSpPr>
          <p:cNvPr id="55" name=""/>
          <p:cNvSpPr/>
          <p:nvPr/>
        </p:nvSpPr>
        <p:spPr>
          <a:xfrm rot="0" flipH="0" flipV="0">
            <a:off x="3429000" y="1238250"/>
            <a:ext cx="2600325" cy="4648200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0E1B2E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3581400" y="1409700"/>
            <a:ext cx="22955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C8A24A"/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3581400" y="1781175"/>
            <a:ext cx="229552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 b="1">
                <a:solidFill>
                  <a:srgbClr val="0E1B2E"/>
                </a:solidFill>
                <a:latin typeface="Microsoft YaHei"/>
                <a:ea typeface="Microsoft YaHei"/>
              </a:rPr>
              <a:t>文档题永远不检索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3581400" y="2133600"/>
            <a:ext cx="2295525" cy="9525"/>
          </a:xfrm>
          <a:prstGeom prst="rect">
            <a:avLst/>
          </a:prstGeom>
          <a:solidFill>
            <a:srgbClr val="0E1B2E">
              <a:alpha val="9000"/>
            </a:srgbClr>
          </a:solidFill>
          <a:ln/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3581400" y="2257425"/>
            <a:ext cx="2295525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863">
                <a:solidFill>
                  <a:srgbClr val="0E1B2E">
                    <a:alpha val="50000"/>
                  </a:srgbClr>
                </a:solidFill>
                <a:latin typeface="Microsoft YaHei"/>
                <a:ea typeface="Microsoft YaHei"/>
              </a:rPr>
              <a:t>旧</a:t>
            </a:r>
            <a:r>
              <a:rPr lang="en-US" sz="863">
                <a:solidFill>
                  <a:srgbClr val="0E1B2E">
                    <a:alpha val="50000"/>
                  </a:srgbClr>
                </a:solidFill>
                <a:latin typeface="Microsoft YaHei"/>
                <a:ea typeface="Microsoft YaHei"/>
              </a:rPr>
              <a:t> BERT </a:t>
            </a:r>
            <a:r>
              <a:rPr lang="zh-CN" sz="863">
                <a:solidFill>
                  <a:srgbClr val="0E1B2E">
                    <a:alpha val="50000"/>
                  </a:srgbClr>
                </a:solidFill>
                <a:latin typeface="Microsoft YaHei"/>
                <a:ea typeface="Microsoft YaHei"/>
              </a:rPr>
              <a:t>分类器把「年报里提到了什么」判为通用知识，直接交给模型编。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3581400" y="5591175"/>
            <a:ext cx="1905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2F5D9E"/>
                </a:solidFill>
                <a:latin typeface="Microsoft YaHei"/>
                <a:ea typeface="Microsoft YaHei"/>
              </a:rPr>
              <a:t>改法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3829050" y="5581650"/>
            <a:ext cx="20478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0E1B2E">
                    <a:alpha val="72000"/>
                  </a:srgbClr>
                </a:solidFill>
                <a:latin typeface="Microsoft YaHei"/>
                <a:ea typeface="Microsoft YaHei"/>
              </a:rPr>
              <a:t>强制检索开关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6162675" y="1238250"/>
            <a:ext cx="2609850" cy="4648200"/>
          </a:xfrm>
          <a:prstGeom prst="roundRect">
            <a:avLst>
              <a:gd name="adj" fmla="val 4380"/>
            </a:avLst>
          </a:prstGeom>
          <a:solidFill>
            <a:srgbClr val="FFFFFF"/>
          </a:solidFill>
          <a:ln w="12700">
            <a:solidFill>
              <a:srgbClr val="0E1B2E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6315075" y="1409700"/>
            <a:ext cx="23050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C8A24A"/>
                </a:solidFill>
                <a:latin typeface="Consolas"/>
                <a:ea typeface="Consolas"/>
              </a:rPr>
              <a:t>03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6315075" y="1781175"/>
            <a:ext cx="2305050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 b="1">
                <a:solidFill>
                  <a:srgbClr val="0E1B2E"/>
                </a:solidFill>
                <a:latin typeface="Microsoft YaHei"/>
                <a:ea typeface="Microsoft YaHei"/>
              </a:rPr>
              <a:t>关键词召回不到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6315075" y="2133600"/>
            <a:ext cx="2305050" cy="9525"/>
          </a:xfrm>
          <a:prstGeom prst="rect">
            <a:avLst/>
          </a:prstGeom>
          <a:solidFill>
            <a:srgbClr val="0E1B2E">
              <a:alpha val="9000"/>
            </a:srgbClr>
          </a:solidFill>
          <a:ln/>
        </p:spPr>
        <p:txBody>
          <a:bodyPr/>
          <a:p/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6315075" y="2257425"/>
            <a:ext cx="2305050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863">
                <a:solidFill>
                  <a:srgbClr val="0E1B2E">
                    <a:alpha val="50000"/>
                  </a:srgbClr>
                </a:solidFill>
                <a:latin typeface="Microsoft YaHei"/>
                <a:ea typeface="Microsoft YaHei"/>
              </a:rPr>
              <a:t>「渠道库存」「经营风险」这类词，向量空间里找不到对应段落。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6315075" y="5591175"/>
            <a:ext cx="1905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2F5D9E"/>
                </a:solidFill>
                <a:latin typeface="Microsoft YaHei"/>
                <a:ea typeface="Microsoft YaHei"/>
              </a:rPr>
              <a:t>改法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6562725" y="5581650"/>
            <a:ext cx="20574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0E1B2E">
                    <a:alpha val="72000"/>
                  </a:srgbClr>
                </a:solidFill>
                <a:latin typeface="Microsoft YaHei"/>
                <a:ea typeface="Microsoft YaHei"/>
              </a:rPr>
              <a:t>BM25 + RRF </a:t>
            </a:r>
            <a:r>
              <a:rPr lang="zh-CN" sz="863">
                <a:solidFill>
                  <a:srgbClr val="0E1B2E">
                    <a:alpha val="72000"/>
                  </a:srgbClr>
                </a:solidFill>
                <a:latin typeface="Microsoft YaHei"/>
                <a:ea typeface="Microsoft YaHei"/>
              </a:rPr>
              <a:t>融合</a:t>
            </a:r>
            <a:endParaRPr/>
          </a:p>
        </p:txBody>
      </p:sp>
      <p:sp>
        <p:nvSpPr>
          <p:cNvPr id="69" name=""/>
          <p:cNvSpPr/>
          <p:nvPr/>
        </p:nvSpPr>
        <p:spPr>
          <a:xfrm rot="0" flipH="0" flipV="0">
            <a:off x="8905875" y="1238250"/>
            <a:ext cx="2600325" cy="4648200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0E1B2E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9058275" y="1409700"/>
            <a:ext cx="22955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C8A24A"/>
                </a:solidFill>
                <a:latin typeface="Consolas"/>
                <a:ea typeface="Consolas"/>
              </a:rPr>
              <a:t>04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9058275" y="1781175"/>
            <a:ext cx="229552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 b="1">
                <a:solidFill>
                  <a:srgbClr val="0E1B2E"/>
                </a:solidFill>
                <a:latin typeface="Microsoft YaHei"/>
                <a:ea typeface="Microsoft YaHei"/>
              </a:rPr>
              <a:t>引用翻到隔壁章节</a:t>
            </a:r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9058275" y="2133600"/>
            <a:ext cx="2295525" cy="9525"/>
          </a:xfrm>
          <a:prstGeom prst="rect">
            <a:avLst/>
          </a:prstGeom>
          <a:solidFill>
            <a:srgbClr val="0E1B2E">
              <a:alpha val="9000"/>
            </a:srgbClr>
          </a:solidFill>
          <a:ln/>
        </p:spPr>
        <p:txBody>
          <a:bodyPr/>
          <a:p/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9058275" y="2257425"/>
            <a:ext cx="2295525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863">
                <a:solidFill>
                  <a:srgbClr val="0E1B2E">
                    <a:alpha val="50000"/>
                  </a:srgbClr>
                </a:solidFill>
                <a:latin typeface="Microsoft YaHei"/>
                <a:ea typeface="Microsoft YaHei"/>
              </a:rPr>
              <a:t>年报「一页拆多节」，父窗口起止跨了章节，页码对不上。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9058275" y="5591175"/>
            <a:ext cx="1905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2F5D9E"/>
                </a:solidFill>
                <a:latin typeface="Microsoft YaHei"/>
                <a:ea typeface="Microsoft YaHei"/>
              </a:rPr>
              <a:t>改法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9305925" y="5581650"/>
            <a:ext cx="20478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0E1B2E">
                    <a:alpha val="72000"/>
                  </a:srgbClr>
                </a:solidFill>
                <a:latin typeface="Microsoft YaHei"/>
                <a:ea typeface="Microsoft YaHei"/>
              </a:rPr>
              <a:t>命中时回退子块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685800" y="6076950"/>
            <a:ext cx="28575" cy="304800"/>
          </a:xfrm>
          <a:prstGeom prst="rect">
            <a:avLst/>
          </a:prstGeom>
          <a:solidFill>
            <a:srgbClr val="C8A24A"/>
          </a:solidFill>
          <a:ln/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828675" y="6105525"/>
            <a:ext cx="5276850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13">
                <a:solidFill>
                  <a:srgbClr val="0E1B2E">
                    <a:alpha val="62000"/>
                  </a:srgbClr>
                </a:solidFill>
                <a:latin typeface="Microsoft YaHei"/>
                <a:ea typeface="Microsoft YaHei"/>
              </a:rPr>
              <a:t>四次故障的共同点：都不是推理能力问题，而是「以为在复用，实际在继承别人的上下文」。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685800" y="6543675"/>
            <a:ext cx="14573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0E1B2E">
                    <a:alpha val="34000"/>
                  </a:srgbClr>
                </a:solidFill>
                <a:latin typeface="Microsoft YaHei"/>
                <a:ea typeface="Microsoft YaHei"/>
              </a:rPr>
              <a:t>FinSight · </a:t>
            </a:r>
            <a:r>
              <a:rPr lang="zh-CN" sz="900">
                <a:solidFill>
                  <a:srgbClr val="0E1B2E">
                    <a:alpha val="34000"/>
                  </a:srgbClr>
                </a:solidFill>
                <a:latin typeface="Microsoft YaHei"/>
                <a:ea typeface="Microsoft YaHei"/>
              </a:rPr>
              <a:t>白酒行业智能投研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11058525" y="6543675"/>
            <a:ext cx="447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0E1B2E">
                    <a:alpha val="34000"/>
                  </a:srgbClr>
                </a:solidFill>
                <a:latin typeface="Consolas"/>
                <a:ea typeface="Consolas"/>
              </a:rPr>
              <a:t>11 / 12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80" name="" descr="&lt;Slide style={{&#10;    width: 1280,&#10;    height: 720,&#10;    background: 'linear-gradient(135deg, #0E1B2E 0%, #152b4d 55%, #22456f 100%)',&#10;    position: 'relative',&#10;    overflow: 'hidden',&#10;    flexDirection: 'column',&#10;    alignItems: 'center',&#10;    justifyContent: 'center',&#10;}}&gt;&#10;    &lt;svg width={1280} height={720} viewBox='0 0 1280 720' style={{ position: 'absolute', top: 0, left: 0, opacity: 0.3 }}&gt;&#10;        &lt;g stroke='#C8A24A' strokeWidth='1' fill='none' opacity='0.42'&gt;&#10;            &lt;circle cx='640' cy='360' r='196' /&gt;&#10;            &lt;circle cx='640' cy='360' r='286' /&gt;&#10;            &lt;circle cx='640' cy='360' r='376' /&gt;&#10;            &lt;path d='M 0 360 L 1280 360' opacity='0.18' /&gt;&#10;            &lt;path d='M 640 0 L 640 720' opacity='0.14' /&gt;&#10;        &lt;/g&gt;&#10;        &lt;g fill='#C8A24A'&gt;&#10;            &lt;circle cx='640' cy='164' r='3' opacity='0.6' /&gt;&#10;            &lt;circle cx='640' cy='556' r='3' opacity='0.6' /&gt;&#10;            &lt;circle cx='354' cy='360' r='2.6' opacity='0.45' /&gt;&#10;            &lt;circle cx='926' cy='360' r='2.6' opacity='0.45' /&gt;&#10;        &lt;/g&gt;&#10;    &lt;/svg&gt;&#10;&#10;    &lt;Box style={{ position: 'relative', zIndex: 2, flexDirection: 'column', alignItems: 'center', width: 880 }}&gt;&#10;        &lt;Text style={{ fontSize: 12, letterSpacing: 6, color: '#C8A24A', fontWeight: 'bold' }}&gt;&#10;            FIN · SIGHT&#10;        &lt;/Text&gt;&#10;        &lt;Text style={{&#10;            fontSize: 46,&#10;            fontWeight: 'bold',&#10;            color: '#F5F1E8',&#10;            marginTop: 30,&#10;            lineHeight: 1.42,&#10;            textAlign: 'center',&#10;        }}&gt;&#10;            让模型少说一点，&lt;br /&gt;让数据多说一点&#10;        &lt;/Text&gt;&#10;        &lt;Box style={{ width: 66, height: 2, background: '#C8A24A', marginTop: 34 }} /&gt;&#10;&#10;        &lt;Box style={{ flexDirection: 'row', gap: 46, marginTop: 42 }}&gt;&#10;            &lt;Box style={{ flexDirection: 'column', alignItems: 'center' }}&gt;&#10;                &lt;Text style={{ fontSize: 13, color: 'rgba(245,241,232,0.5)' }}&gt;一个入口&lt;/Text&gt;&#10;                &lt;Text style={{ fontSize: 15, color: 'rgba(245,241,232,0.86)', marginTop: 6 }}&gt;三条链路&lt;/Text&gt;&#10;            &lt;/Box&gt;&#10;            &lt;Box style={{ width: 1, height: 34, background: 'rgba(200,162,74,0.28)' }} /&gt;&#10;            &lt;Box style={{ flexDirection: 'column', alignItems: 'center' }}&gt;&#10;                &lt;Text style={{ fontSize: 13, color: 'rgba(245,241,232,0.5)' }}&gt;向量库&lt;/Text&gt;&#10;                &lt;Text style={{ fontSize: 15, color: 'rgba(245,241,232,0.86)', marginTop: 6, fontFamily: 'Consolas' }}&gt;24,235 条&lt;/Text&gt;&#10;            &lt;/Box&gt;&#10;            &lt;Box style={{ width: 1, height: 34, background: 'rgba(200,162,74,0.28)' }} /&gt;&#10;            &lt;Box style={{ flexDirection: 'column', alignItems: 'center' }}&gt;&#10;                &lt;Text style={{ fontSize: 13, color: 'rgba(245,241,232,0.5)' }}&gt;检索命中&lt;/Text&gt;&#10;                &lt;Text style={{ fontSize: 15, color: 'rgba(245,241,232,0.86)', marginTop: 6, fontFamily: 'Consolas' }}&gt;hit@5 95%&lt;/Text&gt;&#10;            &lt;/Box&gt;&#10;            &lt;Box style={{ width: 1, height: 34, background: 'rgba(200,162,74,0.28)' }} /&gt;&#10;            &lt;Box style={{ flexDirection: 'column', alignItems: 'center' }}&gt;&#10;                &lt;Text style={{ fontSize: 13, color: 'rgba(245,241,232,0.5)' }}&gt;指标计算&lt;/Text&gt;&#10;                &lt;Text style={{ fontSize: 15, color: 'rgba(245,241,232,0.86)', marginTop: 6, fontFamily: 'Consolas' }}&gt;100% 命中&lt;/Text&gt;&#10;            &lt;/Box&gt;&#10;        &lt;/Box&gt;&#10;    &lt;/Box&gt;&#10;&#10;    &lt;Box style={{ position: 'absolute', bottom: 46, flexDirection: 'row', alignItems: 'center', gap: 12 }}&gt;&#10;        &lt;Box style={{ width: 22, height: 1, background: 'rgba(200,162,74,0.5)' }} /&gt;&#10;        &lt;Text style={{ fontSize: 12, color: 'rgba(245,241,232,0.34)', letterSpacing: 2 }}&gt;&#10;            FinSight 酒研助手　·　2026.10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E1B2E"/>
              </a:gs>
              <a:gs pos="55000">
                <a:srgbClr val="152B4D"/>
              </a:gs>
              <a:gs pos="100000">
                <a:srgbClr val="22456F"/>
              </a:gs>
            </a:gsLst>
            <a:lin ang="2700000" scaled="1"/>
          </a:gradFill>
          <a:ln/>
        </p:spPr>
        <p:txBody>
          <a:bodyPr/>
          <a:p/>
        </p:txBody>
      </p:sp>
      <p:pic>
        <p:nvPicPr>
          <p:cNvPr id="82" name=""/>
          <p:cNvPicPr>
            <a:picLocks noChangeAspect="1"/>
          </p:cNvPicPr>
          <p:nvPr/>
        </p:nvPicPr>
        <p:blipFill>
          <a:blip>
            <a:alphaModFix amt="30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83" name=""/>
          <p:cNvSpPr/>
          <p:nvPr/>
        </p:nvSpPr>
        <p:spPr>
          <a:xfrm rot="0" flipH="0" flipV="0">
            <a:off x="4905375" y="6343650"/>
            <a:ext cx="209550" cy="9525"/>
          </a:xfrm>
          <a:prstGeom prst="rect">
            <a:avLst/>
          </a:prstGeom>
          <a:solidFill>
            <a:srgbClr val="C8A24A">
              <a:alpha val="50000"/>
            </a:srgbClr>
          </a:solidFill>
          <a:ln/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5229225" y="6276975"/>
            <a:ext cx="20669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F5F1E8">
                    <a:alpha val="34000"/>
                  </a:srgbClr>
                </a:solidFill>
                <a:latin typeface="Microsoft YaHei"/>
                <a:ea typeface="Microsoft YaHei"/>
              </a:rPr>
              <a:t>FinSight </a:t>
            </a:r>
            <a:r>
              <a:rPr lang="zh-CN" sz="900" spc="150">
                <a:solidFill>
                  <a:srgbClr val="F5F1E8">
                    <a:alpha val="34000"/>
                  </a:srgbClr>
                </a:solidFill>
                <a:latin typeface="Microsoft YaHei"/>
                <a:ea typeface="Microsoft YaHei"/>
              </a:rPr>
              <a:t>酒研助手　·　</a:t>
            </a:r>
            <a:r>
              <a:rPr lang="en-US" sz="900" spc="150">
                <a:solidFill>
                  <a:srgbClr val="F5F1E8">
                    <a:alpha val="34000"/>
                  </a:srgbClr>
                </a:solidFill>
                <a:latin typeface="Microsoft YaHei"/>
                <a:ea typeface="Microsoft YaHei"/>
              </a:rPr>
              <a:t>2026.10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5438775" y="1905000"/>
            <a:ext cx="13144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450">
                <a:solidFill>
                  <a:srgbClr val="C8A24A"/>
                </a:solidFill>
                <a:latin typeface="Microsoft YaHei"/>
                <a:ea typeface="Microsoft YaHei"/>
              </a:rPr>
              <a:t>FIN · SIGHT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4343400" y="2333625"/>
            <a:ext cx="3505200" cy="1495425"/>
          </a:xfrm>
          <a:prstGeom prst="rect"/>
        </p:spPr>
        <p:txBody>
          <a:bodyPr wrap="none" lIns="0" tIns="0" rIns="0" bIns="0"/>
          <a:p>
            <a:pPr algn="ctr">
              <a:lnSpc>
                <a:spcPct val="142000"/>
              </a:lnSpc>
            </a:pPr>
            <a:r>
              <a:rPr lang="zh-CN" sz="3450" b="1">
                <a:solidFill>
                  <a:srgbClr val="F5F1E8"/>
                </a:solidFill>
                <a:latin typeface="Microsoft YaHei"/>
                <a:ea typeface="Microsoft YaHei"/>
              </a:rPr>
              <a:t>让模型少说一点，</a:t>
            </a:r>
            <a:endParaRPr/>
          </a:p>
          <a:p>
            <a:pPr algn="ctr">
              <a:lnSpc>
                <a:spcPct val="142000"/>
              </a:lnSpc>
            </a:pPr>
            <a:r>
              <a:rPr lang="zh-CN" sz="3450" b="1">
                <a:solidFill>
                  <a:srgbClr val="F5F1E8"/>
                </a:solidFill>
                <a:latin typeface="Microsoft YaHei"/>
                <a:ea typeface="Microsoft YaHei"/>
              </a:rPr>
              <a:t>让数据多说一点</a:t>
            </a:r>
            <a:endParaRPr/>
          </a:p>
        </p:txBody>
      </p:sp>
      <p:sp>
        <p:nvSpPr>
          <p:cNvPr id="87" name=""/>
          <p:cNvSpPr/>
          <p:nvPr/>
        </p:nvSpPr>
        <p:spPr>
          <a:xfrm rot="0" flipH="0" flipV="0">
            <a:off x="5781675" y="4152900"/>
            <a:ext cx="628650" cy="19050"/>
          </a:xfrm>
          <a:prstGeom prst="rect">
            <a:avLst/>
          </a:prstGeom>
          <a:solidFill>
            <a:srgbClr val="C8A24A"/>
          </a:solidFill>
          <a:ln/>
        </p:spPr>
        <p:txBody>
          <a:bodyPr/>
          <a:p/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3390900" y="457200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5F1E8">
                    <a:alpha val="50000"/>
                  </a:srgbClr>
                </a:solidFill>
                <a:latin typeface="Microsoft YaHei"/>
                <a:ea typeface="Microsoft YaHei"/>
              </a:rPr>
              <a:t>一个入口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3352800" y="478155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5F1E8">
                    <a:alpha val="86000"/>
                  </a:srgbClr>
                </a:solidFill>
                <a:latin typeface="Microsoft YaHei"/>
                <a:ea typeface="Microsoft YaHei"/>
              </a:rPr>
              <a:t>三条链路</a:t>
            </a:r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4362450" y="4572000"/>
            <a:ext cx="9525" cy="323850"/>
          </a:xfrm>
          <a:prstGeom prst="rect">
            <a:avLst/>
          </a:prstGeom>
          <a:solidFill>
            <a:srgbClr val="C8A24A">
              <a:alpha val="28000"/>
            </a:srgbClr>
          </a:solidFill>
          <a:ln/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5000625" y="4572000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5F1E8">
                    <a:alpha val="50000"/>
                  </a:srgbClr>
                </a:solidFill>
                <a:latin typeface="Microsoft YaHei"/>
                <a:ea typeface="Microsoft YaHei"/>
              </a:rPr>
              <a:t>向量库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4810125" y="4781550"/>
            <a:ext cx="752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5F1E8">
                    <a:alpha val="86000"/>
                  </a:srgbClr>
                </a:solidFill>
                <a:latin typeface="Consolas"/>
                <a:ea typeface="Consolas"/>
              </a:rPr>
              <a:t>24,235 </a:t>
            </a:r>
            <a:r>
              <a:rPr lang="zh-CN" sz="1125">
                <a:solidFill>
                  <a:srgbClr val="F5F1E8">
                    <a:alpha val="86000"/>
                  </a:srgbClr>
                </a:solidFill>
                <a:latin typeface="Consolas"/>
                <a:ea typeface="Consolas"/>
              </a:rPr>
              <a:t>条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6000750" y="4572000"/>
            <a:ext cx="9525" cy="323850"/>
          </a:xfrm>
          <a:prstGeom prst="rect">
            <a:avLst/>
          </a:prstGeom>
          <a:solidFill>
            <a:srgbClr val="C8A24A">
              <a:alpha val="28000"/>
            </a:srgbClr>
          </a:solidFill>
          <a:ln/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6562725" y="457200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5F1E8">
                    <a:alpha val="50000"/>
                  </a:srgbClr>
                </a:solidFill>
                <a:latin typeface="Microsoft YaHei"/>
                <a:ea typeface="Microsoft YaHei"/>
              </a:rPr>
              <a:t>检索命中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6448425" y="4781550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5F1E8">
                    <a:alpha val="86000"/>
                  </a:srgbClr>
                </a:solidFill>
                <a:latin typeface="Consolas"/>
                <a:ea typeface="Consolas"/>
              </a:rPr>
              <a:t>hit@5 95%</a:t>
            </a:r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7600950" y="4572000"/>
            <a:ext cx="9525" cy="323850"/>
          </a:xfrm>
          <a:prstGeom prst="rect">
            <a:avLst/>
          </a:prstGeom>
          <a:solidFill>
            <a:srgbClr val="C8A24A">
              <a:alpha val="28000"/>
            </a:srgbClr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8201025" y="457200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5F1E8">
                    <a:alpha val="50000"/>
                  </a:srgbClr>
                </a:solidFill>
                <a:latin typeface="Microsoft YaHei"/>
                <a:ea typeface="Microsoft YaHei"/>
              </a:rPr>
              <a:t>指标计算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8048625" y="4781550"/>
            <a:ext cx="800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5F1E8">
                    <a:alpha val="86000"/>
                  </a:srgbClr>
                </a:solidFill>
                <a:latin typeface="Consolas"/>
                <a:ea typeface="Consolas"/>
              </a:rPr>
              <a:t>100% </a:t>
            </a:r>
            <a:r>
              <a:rPr lang="zh-CN" sz="1125">
                <a:solidFill>
                  <a:srgbClr val="F5F1E8">
                    <a:alpha val="86000"/>
                  </a:srgbClr>
                </a:solidFill>
                <a:latin typeface="Consolas"/>
                <a:ea typeface="Consolas"/>
              </a:rPr>
              <a:t>命中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2026-10-21T09:28:05Z</dcterms:created>
  <dcterms:modified xsi:type="dcterms:W3CDTF">2026-10-21T09:28:05Z</dcterms:modified>
</cp:coreProperties>
</file>